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</p:sld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8A8C9DC-FAD0-467A-A36B-4DABFFB1244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1E79BC6-BE51-414C-8D7F-220BB49F8CA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305B3AD7-4228-476C-AFBF-78134E6B58E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BDB41E80-A48D-45E1-8F74-26C66F00311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0B51A6D1-8407-4A04-B697-9CD6391A7BD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1E7B62C3-5379-4E4B-8A5E-0840D5736BD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86AE83A6-21D1-4624-BFDF-189F88AA3FE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8205BEC6-3860-4E4E-A1E4-ED9B5B5A7DC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201CBA46-AE19-462E-8D76-3B200F9046D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BDE595BF-B2A5-4D82-99A2-C075AC8CB3F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20FBE8CF-C943-474B-97A6-E869ADCB0FE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0E8C358F-EA4E-45B2-AC4A-BE26298FEA0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4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38776C-C038-4A67-BBF2-06DAEE231A2B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3422" lnSpcReduction="20000"/>
          </a:bodyPr>
          <a:p>
            <a:pPr indent="0">
              <a:buNone/>
            </a:pPr>
            <a:r>
              <a:rPr b="0" lang="pt-PT" sz="44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 rot="5400000">
            <a:off x="2309400" y="-251640"/>
            <a:ext cx="4525560" cy="8229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499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E133237-25C0-476B-A231-8BAD14647C0D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 rot="5400000">
            <a:off x="4732560" y="2171520"/>
            <a:ext cx="5851080" cy="205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b="0" lang="pt-PT" sz="44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 rot="5400000">
            <a:off x="541800" y="190080"/>
            <a:ext cx="5851080" cy="601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6865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B485DF7-A89E-49FA-9BE3-70E04278A244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b="0" lang="pt-PT" sz="44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BA659CC-8880-463E-871E-CE9A7F7D086B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3422" lnSpcReduction="20000"/>
          </a:bodyPr>
          <a:p>
            <a:pPr indent="0">
              <a:buNone/>
            </a:pPr>
            <a:r>
              <a:rPr b="0" lang="pt-PT" sz="44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5044469-7887-4418-BEC8-92B68978041C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buNone/>
            </a:pPr>
            <a:r>
              <a:rPr b="0" lang="pt-PT" sz="40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43472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219A5C8-7DC7-41C4-8F9D-37DF3A8571FE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3422" lnSpcReduction="20000"/>
          </a:bodyPr>
          <a:p>
            <a:pPr indent="0">
              <a:buNone/>
            </a:pPr>
            <a:r>
              <a:rPr b="0" lang="pt-PT" sz="44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8556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8556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9C4D82-A5F6-4F7C-A79E-E93A8E14736A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3422" lnSpcReduction="20000"/>
          </a:bodyPr>
          <a:p>
            <a:pPr indent="0">
              <a:buNone/>
            </a:pPr>
            <a:r>
              <a:rPr b="0" lang="pt-PT" sz="44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624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1638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624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1638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526C15-9808-48B4-86BE-670E6C9ADC0C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3422" lnSpcReduction="20000"/>
          </a:bodyPr>
          <a:p>
            <a:pPr indent="0">
              <a:buNone/>
            </a:pPr>
            <a:r>
              <a:rPr b="0" lang="pt-PT" sz="44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7FCEB8C-60CC-4495-82D0-E45E8A706BD2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>
              <a:buNone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7491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128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A422481-0B77-48D9-82E3-1B71D3655CCF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>
              <a:buNone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24994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CED08E0-F105-4E68-8816-16E44A9B4581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dt" idx="3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ftr" idx="3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sldNum" idx="3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1128211-FA86-436F-BA3E-373456B6689C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84;p13"/>
          <p:cNvSpPr/>
          <p:nvPr/>
        </p:nvSpPr>
        <p:spPr>
          <a:xfrm>
            <a:off x="762120" y="4134600"/>
            <a:ext cx="3809520" cy="187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360" bIns="936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Google Shape;85;p13"/>
          <p:cNvSpPr/>
          <p:nvPr/>
        </p:nvSpPr>
        <p:spPr>
          <a:xfrm>
            <a:off x="762120" y="2123280"/>
            <a:ext cx="2822760" cy="304560"/>
          </a:xfrm>
          <a:prstGeom prst="roundRect">
            <a:avLst>
              <a:gd name="adj" fmla="val 50000"/>
            </a:avLst>
          </a:prstGeom>
          <a:solidFill>
            <a:srgbClr val="0f303d"/>
          </a:solidFill>
          <a:ln w="9525">
            <a:solidFill>
              <a:srgbClr val="1850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Google Shape;86;p13"/>
          <p:cNvSpPr/>
          <p:nvPr/>
        </p:nvSpPr>
        <p:spPr>
          <a:xfrm>
            <a:off x="762120" y="2656440"/>
            <a:ext cx="1125108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tabLst>
                <a:tab algn="l" pos="0"/>
              </a:tabLst>
            </a:pPr>
            <a:r>
              <a:rPr b="1" lang="pt-PT" sz="4200" spc="-1" strike="noStrike">
                <a:solidFill>
                  <a:srgbClr val="ffffff"/>
                </a:solidFill>
                <a:latin typeface="Plus Jakarta Sans"/>
                <a:ea typeface="Plus Jakarta Sans"/>
              </a:rPr>
              <a:t>MobiAssiste</a:t>
            </a:r>
            <a:endParaRPr b="0" lang="pt-PT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Google Shape;87;p13"/>
          <p:cNvSpPr/>
          <p:nvPr/>
        </p:nvSpPr>
        <p:spPr>
          <a:xfrm>
            <a:off x="762120" y="3433680"/>
            <a:ext cx="95245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pt-PT" sz="1800" spc="-1" strike="noStrike">
                <a:solidFill>
                  <a:srgbClr val="94a3b8"/>
                </a:solidFill>
                <a:latin typeface="Plus Jakarta Sans"/>
                <a:ea typeface="Plus Jakarta Sans"/>
              </a:rPr>
              <a:t>Plataforma Digital de Gestão Integrada de Mobilidade Assistida</a:t>
            </a: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Google Shape;88;p13"/>
          <p:cNvSpPr/>
          <p:nvPr/>
        </p:nvSpPr>
        <p:spPr>
          <a:xfrm>
            <a:off x="762120" y="4534920"/>
            <a:ext cx="114296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Grupo:</a:t>
            </a:r>
            <a:r>
              <a:rPr b="0" lang="pt-PT" sz="120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 Dinis Carvalho - 125804; Hugo Lopes – 119012; Inês Cardoso - 125738; Guilherme Costa – 125636; </a:t>
            </a:r>
            <a:endParaRPr b="0" lang="pt-PT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Google Shape;89;p13"/>
          <p:cNvSpPr/>
          <p:nvPr/>
        </p:nvSpPr>
        <p:spPr>
          <a:xfrm>
            <a:off x="914400" y="2180160"/>
            <a:ext cx="26132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2dd4bf"/>
                </a:solidFill>
                <a:latin typeface="Plus Jakarta Sans"/>
                <a:ea typeface="Plus Jakarta Sans"/>
              </a:rPr>
              <a:t>ANÁLISE DE SISTEMAS • ITERAÇÃO 1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94;p14"/>
          <p:cNvSpPr/>
          <p:nvPr/>
        </p:nvSpPr>
        <p:spPr>
          <a:xfrm>
            <a:off x="3780000" y="1980000"/>
            <a:ext cx="4663800" cy="195228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Google Shape;95;p14"/>
          <p:cNvSpPr/>
          <p:nvPr/>
        </p:nvSpPr>
        <p:spPr>
          <a:xfrm>
            <a:off x="3780000" y="1980000"/>
            <a:ext cx="37800" cy="1952280"/>
          </a:xfrm>
          <a:prstGeom prst="rect">
            <a:avLst/>
          </a:prstGeom>
          <a:solidFill>
            <a:srgbClr val="e11d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Google Shape;96;p14"/>
          <p:cNvSpPr/>
          <p:nvPr/>
        </p:nvSpPr>
        <p:spPr>
          <a:xfrm>
            <a:off x="677520" y="4503960"/>
            <a:ext cx="5622480" cy="1076040"/>
          </a:xfrm>
          <a:prstGeom prst="roundRect">
            <a:avLst>
              <a:gd name="adj" fmla="val 10619"/>
            </a:avLst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Google Shape;97;p14"/>
          <p:cNvSpPr/>
          <p:nvPr/>
        </p:nvSpPr>
        <p:spPr>
          <a:xfrm>
            <a:off x="6480000" y="4503960"/>
            <a:ext cx="5622480" cy="1076040"/>
          </a:xfrm>
          <a:prstGeom prst="roundRect">
            <a:avLst>
              <a:gd name="adj" fmla="val 10619"/>
            </a:avLst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Google Shape;100;p14"/>
          <p:cNvSpPr/>
          <p:nvPr/>
        </p:nvSpPr>
        <p:spPr>
          <a:xfrm>
            <a:off x="762120" y="533520"/>
            <a:ext cx="11429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01. CONTEXTO &amp; DESAFIOS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Google Shape;101;p14"/>
          <p:cNvSpPr/>
          <p:nvPr/>
        </p:nvSpPr>
        <p:spPr>
          <a:xfrm>
            <a:off x="762120" y="781200"/>
            <a:ext cx="114296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24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A Ineficiência na Mobilidade Social e de Saúde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Google Shape;102;p14"/>
          <p:cNvSpPr/>
          <p:nvPr/>
        </p:nvSpPr>
        <p:spPr>
          <a:xfrm>
            <a:off x="3932280" y="2160000"/>
            <a:ext cx="504504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4800" spc="-1" strike="noStrike">
                <a:solidFill>
                  <a:srgbClr val="e11d48"/>
                </a:solidFill>
                <a:latin typeface="Plus Jakarta Sans"/>
                <a:ea typeface="Plus Jakarta Sans"/>
              </a:rPr>
              <a:t>60 - 70%</a:t>
            </a:r>
            <a:endParaRPr b="0" lang="pt-PT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Google Shape;103;p14"/>
          <p:cNvSpPr/>
          <p:nvPr/>
        </p:nvSpPr>
        <p:spPr>
          <a:xfrm>
            <a:off x="3979800" y="3060000"/>
            <a:ext cx="502020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Tempo perdido em salas de espera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Google Shape;104;p14"/>
          <p:cNvSpPr/>
          <p:nvPr/>
        </p:nvSpPr>
        <p:spPr>
          <a:xfrm>
            <a:off x="3988800" y="3382200"/>
            <a:ext cx="411120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13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Voluntários e Utentes ficam retidos nos hospitais sem informação sobre o término das consultas médicas.</a:t>
            </a:r>
            <a:endParaRPr b="0" lang="pt-PT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Google Shape;105;p14"/>
          <p:cNvSpPr/>
          <p:nvPr/>
        </p:nvSpPr>
        <p:spPr>
          <a:xfrm>
            <a:off x="885240" y="4680000"/>
            <a:ext cx="57747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Processos Manuais e Fragmentados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Google Shape;106;p14"/>
          <p:cNvSpPr/>
          <p:nvPr/>
        </p:nvSpPr>
        <p:spPr>
          <a:xfrm>
            <a:off x="880560" y="5056920"/>
            <a:ext cx="487944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130" spc="-1" strike="noStrike">
                <a:solidFill>
                  <a:srgbClr val="475569"/>
                </a:solidFill>
                <a:latin typeface="Plus Jakarta Sans"/>
                <a:ea typeface="Plus Jakarta Sans"/>
              </a:rPr>
              <a:t>Agendamentos por folhas de cálculo e chamadas geram incompatibilidade de veículos.</a:t>
            </a:r>
            <a:endParaRPr b="0" lang="pt-PT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Google Shape;107;p14"/>
          <p:cNvSpPr/>
          <p:nvPr/>
        </p:nvSpPr>
        <p:spPr>
          <a:xfrm>
            <a:off x="6660000" y="4654080"/>
            <a:ext cx="571788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Isolamento &amp; Faltas a Consultas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Google Shape;108;p14"/>
          <p:cNvSpPr/>
          <p:nvPr/>
        </p:nvSpPr>
        <p:spPr>
          <a:xfrm>
            <a:off x="6660000" y="5056920"/>
            <a:ext cx="48225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130" spc="-1" strike="noStrike">
                <a:solidFill>
                  <a:srgbClr val="475569"/>
                </a:solidFill>
                <a:latin typeface="Plus Jakarta Sans"/>
                <a:ea typeface="Plus Jakarta Sans"/>
              </a:rPr>
              <a:t>Seniores e cidadãos vulneráveis perdem exames essenciais por falta de acompanhamento.</a:t>
            </a:r>
            <a:endParaRPr b="0" lang="pt-PT" sz="113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113;p15"/>
          <p:cNvSpPr/>
          <p:nvPr/>
        </p:nvSpPr>
        <p:spPr>
          <a:xfrm>
            <a:off x="762120" y="2510280"/>
            <a:ext cx="3403080" cy="1837800"/>
          </a:xfrm>
          <a:prstGeom prst="roundRect">
            <a:avLst>
              <a:gd name="adj" fmla="val 8290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Google Shape;114;p15"/>
          <p:cNvSpPr/>
          <p:nvPr/>
        </p:nvSpPr>
        <p:spPr>
          <a:xfrm>
            <a:off x="8028000" y="2529000"/>
            <a:ext cx="3403080" cy="1800000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Google Shape;115;p15"/>
          <p:cNvSpPr/>
          <p:nvPr/>
        </p:nvSpPr>
        <p:spPr>
          <a:xfrm>
            <a:off x="4394520" y="2510280"/>
            <a:ext cx="3403080" cy="1837800"/>
          </a:xfrm>
          <a:prstGeom prst="roundRect">
            <a:avLst>
              <a:gd name="adj" fmla="val 8290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Google Shape;122;p15"/>
          <p:cNvSpPr/>
          <p:nvPr/>
        </p:nvSpPr>
        <p:spPr>
          <a:xfrm>
            <a:off x="762120" y="533520"/>
            <a:ext cx="11429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02. ECOSSISTEMA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Google Shape;123;p15"/>
          <p:cNvSpPr/>
          <p:nvPr/>
        </p:nvSpPr>
        <p:spPr>
          <a:xfrm>
            <a:off x="762120" y="781200"/>
            <a:ext cx="114296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24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Promotor e Matriz de Stakeholders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Google Shape;124;p15"/>
          <p:cNvSpPr/>
          <p:nvPr/>
        </p:nvSpPr>
        <p:spPr>
          <a:xfrm>
            <a:off x="928440" y="2880000"/>
            <a:ext cx="374184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5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IPSS / Rede Municipal</a:t>
            </a:r>
            <a:endParaRPr b="0" lang="pt-PT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Google Shape;125;p15"/>
          <p:cNvSpPr/>
          <p:nvPr/>
        </p:nvSpPr>
        <p:spPr>
          <a:xfrm>
            <a:off x="900000" y="3420000"/>
            <a:ext cx="294588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13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Coordenação operacional, credenciação de voluntários e seguros de viagem.</a:t>
            </a:r>
            <a:endParaRPr b="0" lang="pt-PT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Google Shape;126;p15"/>
          <p:cNvSpPr/>
          <p:nvPr/>
        </p:nvSpPr>
        <p:spPr>
          <a:xfrm>
            <a:off x="4670280" y="2896560"/>
            <a:ext cx="374184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5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Lares e Clientes de IPSS’s</a:t>
            </a:r>
            <a:endParaRPr b="0" lang="pt-PT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Google Shape;127;p15"/>
          <p:cNvSpPr/>
          <p:nvPr/>
        </p:nvSpPr>
        <p:spPr>
          <a:xfrm>
            <a:off x="4614120" y="3436920"/>
            <a:ext cx="294588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13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Gestão centralizada de pedidos para grupos de utentes em residências seniores.</a:t>
            </a:r>
            <a:endParaRPr b="0" lang="pt-PT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Google Shape;128;p15"/>
          <p:cNvSpPr/>
          <p:nvPr/>
        </p:nvSpPr>
        <p:spPr>
          <a:xfrm>
            <a:off x="8336880" y="2896560"/>
            <a:ext cx="374184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5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Unidades Hospitalares</a:t>
            </a:r>
            <a:endParaRPr b="0" lang="pt-PT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Google Shape;129;p15"/>
          <p:cNvSpPr/>
          <p:nvPr/>
        </p:nvSpPr>
        <p:spPr>
          <a:xfrm>
            <a:off x="8280000" y="3436920"/>
            <a:ext cx="294588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13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Sinalização de término de consulta médica via kiosk ou botão virtual.</a:t>
            </a:r>
            <a:endParaRPr b="0" lang="pt-PT" sz="113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34;p16"/>
          <p:cNvSpPr/>
          <p:nvPr/>
        </p:nvSpPr>
        <p:spPr>
          <a:xfrm>
            <a:off x="762120" y="2624040"/>
            <a:ext cx="304560" cy="30456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Google Shape;135;p16"/>
          <p:cNvSpPr/>
          <p:nvPr/>
        </p:nvSpPr>
        <p:spPr>
          <a:xfrm>
            <a:off x="762120" y="3252960"/>
            <a:ext cx="304560" cy="30456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Google Shape;136;p16"/>
          <p:cNvSpPr/>
          <p:nvPr/>
        </p:nvSpPr>
        <p:spPr>
          <a:xfrm>
            <a:off x="762120" y="4062240"/>
            <a:ext cx="304560" cy="30456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Google Shape;138;p16"/>
          <p:cNvSpPr/>
          <p:nvPr/>
        </p:nvSpPr>
        <p:spPr>
          <a:xfrm>
            <a:off x="762120" y="533520"/>
            <a:ext cx="11429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03. SOLUÇÃO PROPOSTA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Google Shape;139;p16"/>
          <p:cNvSpPr/>
          <p:nvPr/>
        </p:nvSpPr>
        <p:spPr>
          <a:xfrm>
            <a:off x="762120" y="781200"/>
            <a:ext cx="114296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24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A Plataforma Digital MobiAssiste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Google Shape;140;p16"/>
          <p:cNvSpPr/>
          <p:nvPr/>
        </p:nvSpPr>
        <p:spPr>
          <a:xfrm>
            <a:off x="619200" y="2684520"/>
            <a:ext cx="5900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ffffff"/>
                </a:solidFill>
                <a:latin typeface="Plus Jakarta Sans"/>
                <a:ea typeface="Plus Jakarta Sans"/>
              </a:rPr>
              <a:t>1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Google Shape;141;p16"/>
          <p:cNvSpPr/>
          <p:nvPr/>
        </p:nvSpPr>
        <p:spPr>
          <a:xfrm>
            <a:off x="619200" y="3313440"/>
            <a:ext cx="5900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ffffff"/>
                </a:solidFill>
                <a:latin typeface="Plus Jakarta Sans"/>
                <a:ea typeface="Plus Jakarta Sans"/>
              </a:rPr>
              <a:t>2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Google Shape;142;p16"/>
          <p:cNvSpPr/>
          <p:nvPr/>
        </p:nvSpPr>
        <p:spPr>
          <a:xfrm>
            <a:off x="619200" y="4122720"/>
            <a:ext cx="5900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ffffff"/>
                </a:solidFill>
                <a:latin typeface="Plus Jakarta Sans"/>
                <a:ea typeface="Plus Jakarta Sans"/>
              </a:rPr>
              <a:t>3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Google Shape;143;p16"/>
          <p:cNvSpPr/>
          <p:nvPr/>
        </p:nvSpPr>
        <p:spPr>
          <a:xfrm>
            <a:off x="1219320" y="2624040"/>
            <a:ext cx="61005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Triagem &amp; Matching Algorítmico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Google Shape;144;p16"/>
          <p:cNvSpPr/>
          <p:nvPr/>
        </p:nvSpPr>
        <p:spPr>
          <a:xfrm>
            <a:off x="1219320" y="2881440"/>
            <a:ext cx="581004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13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Cruzamento automático entre perfil de mobilidade e tipo de veículo.</a:t>
            </a:r>
            <a:endParaRPr b="0" lang="pt-PT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Google Shape;145;p16"/>
          <p:cNvSpPr/>
          <p:nvPr/>
        </p:nvSpPr>
        <p:spPr>
          <a:xfrm>
            <a:off x="1219320" y="3252960"/>
            <a:ext cx="61005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Integração IoT Hospitalar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Google Shape;146;p16"/>
          <p:cNvSpPr/>
          <p:nvPr/>
        </p:nvSpPr>
        <p:spPr>
          <a:xfrm>
            <a:off x="1219320" y="3510000"/>
            <a:ext cx="474300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13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Sinalização em tempo real do término de consulta para eliminar esperas.</a:t>
            </a:r>
            <a:endParaRPr b="0" lang="pt-PT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Google Shape;147;p16"/>
          <p:cNvSpPr/>
          <p:nvPr/>
        </p:nvSpPr>
        <p:spPr>
          <a:xfrm>
            <a:off x="1219320" y="4062240"/>
            <a:ext cx="597528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Módulo de Banco de Tempo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Google Shape;148;p16"/>
          <p:cNvSpPr/>
          <p:nvPr/>
        </p:nvSpPr>
        <p:spPr>
          <a:xfrm>
            <a:off x="1219320" y="4319640"/>
            <a:ext cx="569088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13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Reconhecimento e conversão de horas dedicadas por voluntários.</a:t>
            </a:r>
            <a:endParaRPr b="0" lang="pt-PT" sz="113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53;p17"/>
          <p:cNvSpPr/>
          <p:nvPr/>
        </p:nvSpPr>
        <p:spPr>
          <a:xfrm>
            <a:off x="762120" y="2952720"/>
            <a:ext cx="3403080" cy="1885680"/>
          </a:xfrm>
          <a:prstGeom prst="roundRect">
            <a:avLst>
              <a:gd name="adj" fmla="val 8080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Google Shape;154;p17"/>
          <p:cNvSpPr/>
          <p:nvPr/>
        </p:nvSpPr>
        <p:spPr>
          <a:xfrm>
            <a:off x="4394160" y="2952720"/>
            <a:ext cx="3403080" cy="1885680"/>
          </a:xfrm>
          <a:prstGeom prst="roundRect">
            <a:avLst>
              <a:gd name="adj" fmla="val 8080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Google Shape;155;p17"/>
          <p:cNvSpPr/>
          <p:nvPr/>
        </p:nvSpPr>
        <p:spPr>
          <a:xfrm>
            <a:off x="8026200" y="2952720"/>
            <a:ext cx="3403080" cy="1885680"/>
          </a:xfrm>
          <a:prstGeom prst="roundRect">
            <a:avLst>
              <a:gd name="adj" fmla="val 8080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Google Shape;156;p17"/>
          <p:cNvSpPr/>
          <p:nvPr/>
        </p:nvSpPr>
        <p:spPr>
          <a:xfrm>
            <a:off x="1000080" y="3200400"/>
            <a:ext cx="780840" cy="218880"/>
          </a:xfrm>
          <a:prstGeom prst="roundRect">
            <a:avLst>
              <a:gd name="adj" fmla="val 50000"/>
            </a:avLst>
          </a:prstGeom>
          <a:solidFill>
            <a:srgbClr val="e7f4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Google Shape;157;p17"/>
          <p:cNvSpPr/>
          <p:nvPr/>
        </p:nvSpPr>
        <p:spPr>
          <a:xfrm>
            <a:off x="4632120" y="3200400"/>
            <a:ext cx="1323720" cy="218880"/>
          </a:xfrm>
          <a:prstGeom prst="roundRect">
            <a:avLst>
              <a:gd name="adj" fmla="val 50000"/>
            </a:avLst>
          </a:prstGeom>
          <a:solidFill>
            <a:srgbClr val="fce8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Google Shape;158;p17"/>
          <p:cNvSpPr/>
          <p:nvPr/>
        </p:nvSpPr>
        <p:spPr>
          <a:xfrm>
            <a:off x="8264520" y="3200400"/>
            <a:ext cx="961560" cy="218880"/>
          </a:xfrm>
          <a:prstGeom prst="roundRect">
            <a:avLst>
              <a:gd name="adj" fmla="val 50000"/>
            </a:avLst>
          </a:prstGeom>
          <a:solidFill>
            <a:srgbClr val="fbf1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Google Shape;159;p17"/>
          <p:cNvSpPr/>
          <p:nvPr/>
        </p:nvSpPr>
        <p:spPr>
          <a:xfrm>
            <a:off x="762120" y="533520"/>
            <a:ext cx="11429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04. MAPEAMENTO DE NECESSIDADES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Google Shape;160;p17"/>
          <p:cNvSpPr/>
          <p:nvPr/>
        </p:nvSpPr>
        <p:spPr>
          <a:xfrm>
            <a:off x="762120" y="781200"/>
            <a:ext cx="114296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24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Personas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Google Shape;161;p17"/>
          <p:cNvSpPr/>
          <p:nvPr/>
        </p:nvSpPr>
        <p:spPr>
          <a:xfrm>
            <a:off x="1095480" y="3238560"/>
            <a:ext cx="6854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90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CEGUEIRA</a:t>
            </a:r>
            <a:endParaRPr b="0" lang="pt-PT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Google Shape;162;p17"/>
          <p:cNvSpPr/>
          <p:nvPr/>
        </p:nvSpPr>
        <p:spPr>
          <a:xfrm>
            <a:off x="1000080" y="3505320"/>
            <a:ext cx="38415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Benedita Sousa, 67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Google Shape;163;p17"/>
          <p:cNvSpPr/>
          <p:nvPr/>
        </p:nvSpPr>
        <p:spPr>
          <a:xfrm>
            <a:off x="1000080" y="3762360"/>
            <a:ext cx="3658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Acompanhamento Pedestre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Google Shape;164;p17"/>
          <p:cNvSpPr/>
          <p:nvPr/>
        </p:nvSpPr>
        <p:spPr>
          <a:xfrm>
            <a:off x="1000080" y="4086360"/>
            <a:ext cx="3022200" cy="47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334155"/>
                </a:solidFill>
                <a:latin typeface="Plus Jakarta Sans"/>
                <a:ea typeface="Plus Jakarta Sans"/>
              </a:rPr>
              <a:t>Acesso via Canal Telefónico Assistido. Requer voluntário para apoio no embarque e dentro do hospital.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Google Shape;165;p17"/>
          <p:cNvSpPr/>
          <p:nvPr/>
        </p:nvSpPr>
        <p:spPr>
          <a:xfrm>
            <a:off x="4727520" y="3238560"/>
            <a:ext cx="122832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900" spc="-1" strike="noStrike">
                <a:solidFill>
                  <a:srgbClr val="e11d48"/>
                </a:solidFill>
                <a:latin typeface="Plus Jakarta Sans"/>
                <a:ea typeface="Plus Jakarta Sans"/>
              </a:rPr>
              <a:t>CADEIRA DE RODAS</a:t>
            </a:r>
            <a:endParaRPr b="0" lang="pt-PT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Google Shape;166;p17"/>
          <p:cNvSpPr/>
          <p:nvPr/>
        </p:nvSpPr>
        <p:spPr>
          <a:xfrm>
            <a:off x="4632120" y="3505320"/>
            <a:ext cx="38415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Manuel Silva, 74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Google Shape;167;p17"/>
          <p:cNvSpPr/>
          <p:nvPr/>
        </p:nvSpPr>
        <p:spPr>
          <a:xfrm>
            <a:off x="4632120" y="3762360"/>
            <a:ext cx="3658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Mobilidade Severa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Google Shape;168;p17"/>
          <p:cNvSpPr/>
          <p:nvPr/>
        </p:nvSpPr>
        <p:spPr>
          <a:xfrm>
            <a:off x="4632120" y="4086360"/>
            <a:ext cx="3022200" cy="47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334155"/>
                </a:solidFill>
                <a:latin typeface="Plus Jakarta Sans"/>
                <a:ea typeface="Plus Jakarta Sans"/>
              </a:rPr>
              <a:t>Agendamento por Técnico de Lar. Alocação automática de Viatura Adaptada com rampa/elevador.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Google Shape;169;p17"/>
          <p:cNvSpPr/>
          <p:nvPr/>
        </p:nvSpPr>
        <p:spPr>
          <a:xfrm>
            <a:off x="8359560" y="3238560"/>
            <a:ext cx="86652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9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VOLUNTÁRIO</a:t>
            </a:r>
            <a:endParaRPr b="0" lang="pt-PT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Google Shape;170;p17"/>
          <p:cNvSpPr/>
          <p:nvPr/>
        </p:nvSpPr>
        <p:spPr>
          <a:xfrm>
            <a:off x="8264520" y="3505320"/>
            <a:ext cx="38415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Guilherme Costa, 21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Google Shape;171;p17"/>
          <p:cNvSpPr/>
          <p:nvPr/>
        </p:nvSpPr>
        <p:spPr>
          <a:xfrm>
            <a:off x="8264520" y="3762360"/>
            <a:ext cx="3658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Carro Próprio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Google Shape;172;p17"/>
          <p:cNvSpPr/>
          <p:nvPr/>
        </p:nvSpPr>
        <p:spPr>
          <a:xfrm>
            <a:off x="8264520" y="4086360"/>
            <a:ext cx="3022200" cy="47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334155"/>
                </a:solidFill>
                <a:latin typeface="Plus Jakarta Sans"/>
                <a:ea typeface="Plus Jakarta Sans"/>
              </a:rPr>
              <a:t>Usa App Móvel para aceitar missões flexíveis e acumular créditos no Banco de Tempo comunitário.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77;p18"/>
          <p:cNvSpPr/>
          <p:nvPr/>
        </p:nvSpPr>
        <p:spPr>
          <a:xfrm>
            <a:off x="762120" y="2152800"/>
            <a:ext cx="5652360" cy="837720"/>
          </a:xfrm>
          <a:prstGeom prst="roundRect">
            <a:avLst>
              <a:gd name="adj" fmla="val 13636"/>
            </a:avLst>
          </a:prstGeom>
          <a:solidFill>
            <a:srgbClr val="f8fafc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Google Shape;178;p18"/>
          <p:cNvSpPr/>
          <p:nvPr/>
        </p:nvSpPr>
        <p:spPr>
          <a:xfrm>
            <a:off x="762120" y="3143160"/>
            <a:ext cx="5652360" cy="837720"/>
          </a:xfrm>
          <a:prstGeom prst="roundRect">
            <a:avLst>
              <a:gd name="adj" fmla="val 13636"/>
            </a:avLst>
          </a:prstGeom>
          <a:solidFill>
            <a:srgbClr val="f8fafc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Google Shape;179;p18"/>
          <p:cNvSpPr/>
          <p:nvPr/>
        </p:nvSpPr>
        <p:spPr>
          <a:xfrm>
            <a:off x="762120" y="4133880"/>
            <a:ext cx="5652360" cy="837720"/>
          </a:xfrm>
          <a:prstGeom prst="roundRect">
            <a:avLst>
              <a:gd name="adj" fmla="val 13636"/>
            </a:avLst>
          </a:prstGeom>
          <a:solidFill>
            <a:srgbClr val="f8fafc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Google Shape;181;p18"/>
          <p:cNvSpPr/>
          <p:nvPr/>
        </p:nvSpPr>
        <p:spPr>
          <a:xfrm>
            <a:off x="762120" y="533520"/>
            <a:ext cx="11429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05. GESTÃO DE RECURSOS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Google Shape;182;p18"/>
          <p:cNvSpPr/>
          <p:nvPr/>
        </p:nvSpPr>
        <p:spPr>
          <a:xfrm>
            <a:off x="762120" y="781200"/>
            <a:ext cx="114296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24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Hierarquia de Recurso à Frota Híbrida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Google Shape;183;p18"/>
          <p:cNvSpPr/>
          <p:nvPr/>
        </p:nvSpPr>
        <p:spPr>
          <a:xfrm>
            <a:off x="961920" y="2352600"/>
            <a:ext cx="239040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90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Nível 1 • Prioritário</a:t>
            </a:r>
            <a:endParaRPr b="0" lang="pt-PT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Google Shape;184;p18"/>
          <p:cNvSpPr/>
          <p:nvPr/>
        </p:nvSpPr>
        <p:spPr>
          <a:xfrm>
            <a:off x="5061960" y="2486160"/>
            <a:ext cx="144036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Mobilidade Ligeira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Google Shape;185;p18"/>
          <p:cNvSpPr/>
          <p:nvPr/>
        </p:nvSpPr>
        <p:spPr>
          <a:xfrm>
            <a:off x="961920" y="3343320"/>
            <a:ext cx="227628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900" spc="-1" strike="noStrike">
                <a:solidFill>
                  <a:srgbClr val="d97706"/>
                </a:solidFill>
                <a:latin typeface="Plus Jakarta Sans"/>
                <a:ea typeface="Plus Jakarta Sans"/>
              </a:rPr>
              <a:t>Nível 2 • Adaptado</a:t>
            </a:r>
            <a:endParaRPr b="0" lang="pt-PT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Google Shape;186;p18"/>
          <p:cNvSpPr/>
          <p:nvPr/>
        </p:nvSpPr>
        <p:spPr>
          <a:xfrm>
            <a:off x="5100120" y="3476520"/>
            <a:ext cx="1399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Cadeira de Rodas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Google Shape;187;p18"/>
          <p:cNvSpPr/>
          <p:nvPr/>
        </p:nvSpPr>
        <p:spPr>
          <a:xfrm>
            <a:off x="961920" y="4334040"/>
            <a:ext cx="295236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900" spc="-1" strike="noStrike">
                <a:solidFill>
                  <a:srgbClr val="e11d48"/>
                </a:solidFill>
                <a:latin typeface="Plus Jakarta Sans"/>
                <a:ea typeface="Plus Jakarta Sans"/>
              </a:rPr>
              <a:t>Nível 3 • Contingência</a:t>
            </a:r>
            <a:endParaRPr b="0" lang="pt-PT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Google Shape;188;p18"/>
          <p:cNvSpPr/>
          <p:nvPr/>
        </p:nvSpPr>
        <p:spPr>
          <a:xfrm>
            <a:off x="4928760" y="4467240"/>
            <a:ext cx="16070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Falha de Rede Social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Google Shape;189;p18"/>
          <p:cNvSpPr/>
          <p:nvPr/>
        </p:nvSpPr>
        <p:spPr>
          <a:xfrm>
            <a:off x="961920" y="2571840"/>
            <a:ext cx="301248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Voluntário em Carro Ligeiro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Google Shape;190;p18"/>
          <p:cNvSpPr/>
          <p:nvPr/>
        </p:nvSpPr>
        <p:spPr>
          <a:xfrm>
            <a:off x="961920" y="3562200"/>
            <a:ext cx="28623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Viatura Adaptada Parceiro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Google Shape;191;p18"/>
          <p:cNvSpPr/>
          <p:nvPr/>
        </p:nvSpPr>
        <p:spPr>
          <a:xfrm>
            <a:off x="961920" y="4552920"/>
            <a:ext cx="375012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Operador Profissional (Táxi/TVDE)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764280" y="1440000"/>
            <a:ext cx="5895720" cy="684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Para gerir os meios de forma eficiente, o MobiAssiste utiliza um modelo de Frota Híbrida dividido em 3 níveis:</a:t>
            </a:r>
            <a:endParaRPr b="1" lang="pt-PT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96;p19"/>
          <p:cNvSpPr/>
          <p:nvPr/>
        </p:nvSpPr>
        <p:spPr>
          <a:xfrm>
            <a:off x="762120" y="3240000"/>
            <a:ext cx="2366640" cy="1369800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381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Google Shape;198;p19"/>
          <p:cNvSpPr/>
          <p:nvPr/>
        </p:nvSpPr>
        <p:spPr>
          <a:xfrm>
            <a:off x="3529080" y="3240000"/>
            <a:ext cx="2366640" cy="1369800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381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Google Shape;200;p19"/>
          <p:cNvSpPr/>
          <p:nvPr/>
        </p:nvSpPr>
        <p:spPr>
          <a:xfrm>
            <a:off x="6305400" y="3240000"/>
            <a:ext cx="2343960" cy="137016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38100">
            <a:solidFill>
              <a:srgbClr val="e11d4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Google Shape;202;p19"/>
          <p:cNvSpPr/>
          <p:nvPr/>
        </p:nvSpPr>
        <p:spPr>
          <a:xfrm>
            <a:off x="9063000" y="3240000"/>
            <a:ext cx="2366640" cy="1369800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381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5" name="Google Shape;204;p19" descr="image.png"/>
          <p:cNvPicPr/>
          <p:nvPr/>
        </p:nvPicPr>
        <p:blipFill>
          <a:blip r:embed="rId1"/>
          <a:stretch/>
        </p:blipFill>
        <p:spPr>
          <a:xfrm>
            <a:off x="3281400" y="3857760"/>
            <a:ext cx="95040" cy="151920"/>
          </a:xfrm>
          <a:prstGeom prst="rect">
            <a:avLst/>
          </a:prstGeom>
          <a:ln w="0">
            <a:noFill/>
          </a:ln>
        </p:spPr>
      </p:pic>
      <p:pic>
        <p:nvPicPr>
          <p:cNvPr id="156" name="Google Shape;205;p19" descr="image.png"/>
          <p:cNvPicPr/>
          <p:nvPr/>
        </p:nvPicPr>
        <p:blipFill>
          <a:blip r:embed="rId2"/>
          <a:stretch/>
        </p:blipFill>
        <p:spPr>
          <a:xfrm>
            <a:off x="6048360" y="3857760"/>
            <a:ext cx="95040" cy="151920"/>
          </a:xfrm>
          <a:prstGeom prst="rect">
            <a:avLst/>
          </a:prstGeom>
          <a:ln w="0">
            <a:noFill/>
          </a:ln>
        </p:spPr>
      </p:pic>
      <p:pic>
        <p:nvPicPr>
          <p:cNvPr id="157" name="Google Shape;206;p19" descr="image.png"/>
          <p:cNvPicPr/>
          <p:nvPr/>
        </p:nvPicPr>
        <p:blipFill>
          <a:blip r:embed="rId3"/>
          <a:stretch/>
        </p:blipFill>
        <p:spPr>
          <a:xfrm>
            <a:off x="8815320" y="3857760"/>
            <a:ext cx="95040" cy="151920"/>
          </a:xfrm>
          <a:prstGeom prst="rect">
            <a:avLst/>
          </a:prstGeom>
          <a:ln w="0">
            <a:noFill/>
          </a:ln>
        </p:spPr>
      </p:pic>
      <p:sp>
        <p:nvSpPr>
          <p:cNvPr id="158" name="Google Shape;207;p19"/>
          <p:cNvSpPr/>
          <p:nvPr/>
        </p:nvSpPr>
        <p:spPr>
          <a:xfrm>
            <a:off x="762120" y="533520"/>
            <a:ext cx="11429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06. PROTÓTIPO &amp; PROCESSO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Google Shape;208;p19"/>
          <p:cNvSpPr/>
          <p:nvPr/>
        </p:nvSpPr>
        <p:spPr>
          <a:xfrm>
            <a:off x="762120" y="781200"/>
            <a:ext cx="114296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24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Fluxo Operacional de uma Viagem (To-Be)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Google Shape;209;p19"/>
          <p:cNvSpPr/>
          <p:nvPr/>
        </p:nvSpPr>
        <p:spPr>
          <a:xfrm>
            <a:off x="990720" y="3486240"/>
            <a:ext cx="200448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90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PASSO 1</a:t>
            </a:r>
            <a:endParaRPr b="0" lang="pt-PT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Google Shape;210;p19"/>
          <p:cNvSpPr/>
          <p:nvPr/>
        </p:nvSpPr>
        <p:spPr>
          <a:xfrm>
            <a:off x="3757680" y="3486240"/>
            <a:ext cx="200448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900" spc="-1" strike="noStrike">
                <a:solidFill>
                  <a:srgbClr val="2a6099"/>
                </a:solidFill>
                <a:latin typeface="Plus Jakarta Sans"/>
                <a:ea typeface="Plus Jakarta Sans"/>
              </a:rPr>
              <a:t>P</a:t>
            </a:r>
            <a:r>
              <a:rPr b="1" lang="pt-PT" sz="900" spc="-1" strike="noStrike">
                <a:solidFill>
                  <a:srgbClr val="2a6099"/>
                </a:solidFill>
                <a:latin typeface="Plus Jakarta Sans"/>
                <a:ea typeface="Plus Jakarta Sans"/>
              </a:rPr>
              <a:t>ASSO 2</a:t>
            </a:r>
            <a:endParaRPr b="0" lang="pt-PT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Google Shape;211;p19"/>
          <p:cNvSpPr/>
          <p:nvPr/>
        </p:nvSpPr>
        <p:spPr>
          <a:xfrm>
            <a:off x="6524640" y="3400560"/>
            <a:ext cx="200448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900" spc="-1" strike="noStrike">
                <a:solidFill>
                  <a:srgbClr val="e11d48"/>
                </a:solidFill>
                <a:latin typeface="Plus Jakarta Sans"/>
                <a:ea typeface="Plus Jakarta Sans"/>
              </a:rPr>
              <a:t>PASSO 3</a:t>
            </a:r>
            <a:endParaRPr b="0" lang="pt-PT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Google Shape;212;p19"/>
          <p:cNvSpPr/>
          <p:nvPr/>
        </p:nvSpPr>
        <p:spPr>
          <a:xfrm>
            <a:off x="9291600" y="3486240"/>
            <a:ext cx="200448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900" spc="-1" strike="noStrike">
                <a:solidFill>
                  <a:srgbClr val="d97706"/>
                </a:solidFill>
                <a:latin typeface="Plus Jakarta Sans"/>
                <a:ea typeface="Plus Jakarta Sans"/>
              </a:rPr>
              <a:t>PASSO 4</a:t>
            </a:r>
            <a:endParaRPr b="0" lang="pt-PT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Google Shape;213;p19"/>
          <p:cNvSpPr/>
          <p:nvPr/>
        </p:nvSpPr>
        <p:spPr>
          <a:xfrm>
            <a:off x="990720" y="3800520"/>
            <a:ext cx="25063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Agendamento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Google Shape;214;p19"/>
          <p:cNvSpPr/>
          <p:nvPr/>
        </p:nvSpPr>
        <p:spPr>
          <a:xfrm>
            <a:off x="990720" y="4038480"/>
            <a:ext cx="200448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Pedido via telefone ou Portal Web com requisitos médicos.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Google Shape;215;p19"/>
          <p:cNvSpPr/>
          <p:nvPr/>
        </p:nvSpPr>
        <p:spPr>
          <a:xfrm>
            <a:off x="3757680" y="3800520"/>
            <a:ext cx="25063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Matching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Google Shape;216;p19"/>
          <p:cNvSpPr/>
          <p:nvPr/>
        </p:nvSpPr>
        <p:spPr>
          <a:xfrm>
            <a:off x="3757680" y="4038480"/>
            <a:ext cx="200448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Seleção automática do veículo e voluntário adequado.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Google Shape;217;p19"/>
          <p:cNvSpPr/>
          <p:nvPr/>
        </p:nvSpPr>
        <p:spPr>
          <a:xfrm>
            <a:off x="6524640" y="3714840"/>
            <a:ext cx="25063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Alerta Hospital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Google Shape;218;p19"/>
          <p:cNvSpPr/>
          <p:nvPr/>
        </p:nvSpPr>
        <p:spPr>
          <a:xfrm>
            <a:off x="6524640" y="3952800"/>
            <a:ext cx="2004480" cy="47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Sinalização de "Fim de Consulta" aciona rota de regresso.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Google Shape;219;p19"/>
          <p:cNvSpPr/>
          <p:nvPr/>
        </p:nvSpPr>
        <p:spPr>
          <a:xfrm>
            <a:off x="9291600" y="3800520"/>
            <a:ext cx="25063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Banco de Tempo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Google Shape;220;p19"/>
          <p:cNvSpPr/>
          <p:nvPr/>
        </p:nvSpPr>
        <p:spPr>
          <a:xfrm>
            <a:off x="9291600" y="4038480"/>
            <a:ext cx="200448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Crédito automático de horas na conta do voluntário.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225;p20"/>
          <p:cNvSpPr/>
          <p:nvPr/>
        </p:nvSpPr>
        <p:spPr>
          <a:xfrm>
            <a:off x="762120" y="2924280"/>
            <a:ext cx="5257440" cy="980640"/>
          </a:xfrm>
          <a:prstGeom prst="roundRect">
            <a:avLst>
              <a:gd name="adj" fmla="val 11650"/>
            </a:avLst>
          </a:prstGeom>
          <a:solidFill>
            <a:srgbClr val="f8fafc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Google Shape;226;p20"/>
          <p:cNvSpPr/>
          <p:nvPr/>
        </p:nvSpPr>
        <p:spPr>
          <a:xfrm>
            <a:off x="6172200" y="2924280"/>
            <a:ext cx="5257440" cy="980640"/>
          </a:xfrm>
          <a:prstGeom prst="roundRect">
            <a:avLst>
              <a:gd name="adj" fmla="val 11650"/>
            </a:avLst>
          </a:prstGeom>
          <a:solidFill>
            <a:srgbClr val="f8fafc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Google Shape;227;p20"/>
          <p:cNvSpPr/>
          <p:nvPr/>
        </p:nvSpPr>
        <p:spPr>
          <a:xfrm>
            <a:off x="762120" y="4057560"/>
            <a:ext cx="5257440" cy="809280"/>
          </a:xfrm>
          <a:prstGeom prst="roundRect">
            <a:avLst>
              <a:gd name="adj" fmla="val 14117"/>
            </a:avLst>
          </a:prstGeom>
          <a:solidFill>
            <a:srgbClr val="f8fafc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Google Shape;228;p20"/>
          <p:cNvSpPr/>
          <p:nvPr/>
        </p:nvSpPr>
        <p:spPr>
          <a:xfrm>
            <a:off x="6172200" y="4057560"/>
            <a:ext cx="5257440" cy="809280"/>
          </a:xfrm>
          <a:prstGeom prst="roundRect">
            <a:avLst>
              <a:gd name="adj" fmla="val 14117"/>
            </a:avLst>
          </a:prstGeom>
          <a:solidFill>
            <a:srgbClr val="f8fafc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Google Shape;229;p20"/>
          <p:cNvSpPr/>
          <p:nvPr/>
        </p:nvSpPr>
        <p:spPr>
          <a:xfrm>
            <a:off x="762120" y="533520"/>
            <a:ext cx="11429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07. ROADMAP TÉCNICO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Google Shape;230;p20"/>
          <p:cNvSpPr/>
          <p:nvPr/>
        </p:nvSpPr>
        <p:spPr>
          <a:xfrm>
            <a:off x="762120" y="781200"/>
            <a:ext cx="114296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24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Estrutura de Épicos de Desenvolvimento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Google Shape;231;p20"/>
          <p:cNvSpPr/>
          <p:nvPr/>
        </p:nvSpPr>
        <p:spPr>
          <a:xfrm>
            <a:off x="961920" y="3124080"/>
            <a:ext cx="63756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ÉPICO #1 • Perfis &amp; Triagem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Google Shape;232;p20"/>
          <p:cNvSpPr/>
          <p:nvPr/>
        </p:nvSpPr>
        <p:spPr>
          <a:xfrm>
            <a:off x="961920" y="3362400"/>
            <a:ext cx="49525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Parametrização de condicionantes de mobilidade e gestão de canais assistidos.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Google Shape;233;p20"/>
          <p:cNvSpPr/>
          <p:nvPr/>
        </p:nvSpPr>
        <p:spPr>
          <a:xfrm>
            <a:off x="6372360" y="3124080"/>
            <a:ext cx="58194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ÉPICO #2 • Engine de Matching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Google Shape;234;p20"/>
          <p:cNvSpPr/>
          <p:nvPr/>
        </p:nvSpPr>
        <p:spPr>
          <a:xfrm>
            <a:off x="6372360" y="3362400"/>
            <a:ext cx="581940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Motor de regras para alocação de frota híbrida e operadores de contingência.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Google Shape;235;p20"/>
          <p:cNvSpPr/>
          <p:nvPr/>
        </p:nvSpPr>
        <p:spPr>
          <a:xfrm>
            <a:off x="961920" y="4257720"/>
            <a:ext cx="63756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ÉPICO #3 • App &amp; Banco de Tempo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Google Shape;236;p20"/>
          <p:cNvSpPr/>
          <p:nvPr/>
        </p:nvSpPr>
        <p:spPr>
          <a:xfrm>
            <a:off x="961920" y="4495680"/>
            <a:ext cx="607176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Aplicação móvel do condutor voluntário e contabilidade de horas prestadas.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Google Shape;237;p20"/>
          <p:cNvSpPr/>
          <p:nvPr/>
        </p:nvSpPr>
        <p:spPr>
          <a:xfrm>
            <a:off x="6372360" y="4257720"/>
            <a:ext cx="58194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ÉPICO #4 • IoT &amp; Telemática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Google Shape;238;p20"/>
          <p:cNvSpPr/>
          <p:nvPr/>
        </p:nvSpPr>
        <p:spPr>
          <a:xfrm>
            <a:off x="6372360" y="4495680"/>
            <a:ext cx="581940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Módulo hospitalar de sinalização de "Fim de Consulta" e rastreamento GPS.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84;p 1"/>
          <p:cNvSpPr/>
          <p:nvPr/>
        </p:nvSpPr>
        <p:spPr>
          <a:xfrm>
            <a:off x="762120" y="1824120"/>
            <a:ext cx="5181120" cy="4142880"/>
          </a:xfrm>
          <a:prstGeom prst="roundRect">
            <a:avLst>
              <a:gd name="adj" fmla="val 3678"/>
            </a:avLst>
          </a:prstGeom>
          <a:solidFill>
            <a:srgbClr val="f8fafc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Google Shape;85;p 2"/>
          <p:cNvSpPr/>
          <p:nvPr/>
        </p:nvSpPr>
        <p:spPr>
          <a:xfrm>
            <a:off x="6248520" y="2352600"/>
            <a:ext cx="5181120" cy="3085920"/>
          </a:xfrm>
          <a:prstGeom prst="roundRect">
            <a:avLst>
              <a:gd name="adj" fmla="val 4938"/>
            </a:avLst>
          </a:prstGeom>
          <a:solidFill>
            <a:srgbClr val="f8fafc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Google Shape;86;p 2"/>
          <p:cNvSpPr/>
          <p:nvPr/>
        </p:nvSpPr>
        <p:spPr>
          <a:xfrm>
            <a:off x="1038240" y="2671920"/>
            <a:ext cx="4628880" cy="90432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Google Shape;87;p 2"/>
          <p:cNvSpPr/>
          <p:nvPr/>
        </p:nvSpPr>
        <p:spPr>
          <a:xfrm>
            <a:off x="1038240" y="3728880"/>
            <a:ext cx="4628880" cy="90432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Google Shape;88;p 2"/>
          <p:cNvSpPr/>
          <p:nvPr/>
        </p:nvSpPr>
        <p:spPr>
          <a:xfrm>
            <a:off x="1038240" y="4786200"/>
            <a:ext cx="4628880" cy="90432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Google Shape;89;p 2"/>
          <p:cNvSpPr/>
          <p:nvPr/>
        </p:nvSpPr>
        <p:spPr>
          <a:xfrm>
            <a:off x="6524640" y="3200400"/>
            <a:ext cx="4628880" cy="90432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Google Shape;90;p 2"/>
          <p:cNvSpPr/>
          <p:nvPr/>
        </p:nvSpPr>
        <p:spPr>
          <a:xfrm>
            <a:off x="6524640" y="4257720"/>
            <a:ext cx="4628880" cy="90432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3" name="Google Shape;91;p 2" descr="image.png"/>
          <p:cNvPicPr/>
          <p:nvPr/>
        </p:nvPicPr>
        <p:blipFill>
          <a:blip r:embed="rId1"/>
          <a:stretch/>
        </p:blipFill>
        <p:spPr>
          <a:xfrm>
            <a:off x="1038240" y="2100240"/>
            <a:ext cx="380520" cy="380520"/>
          </a:xfrm>
          <a:prstGeom prst="rect">
            <a:avLst/>
          </a:prstGeom>
          <a:ln w="0">
            <a:noFill/>
          </a:ln>
        </p:spPr>
      </p:pic>
      <p:pic>
        <p:nvPicPr>
          <p:cNvPr id="194" name="Google Shape;92;p 2" descr="image.png"/>
          <p:cNvPicPr/>
          <p:nvPr/>
        </p:nvPicPr>
        <p:blipFill>
          <a:blip r:embed="rId2"/>
          <a:stretch/>
        </p:blipFill>
        <p:spPr>
          <a:xfrm>
            <a:off x="6524640" y="2629080"/>
            <a:ext cx="380520" cy="380520"/>
          </a:xfrm>
          <a:prstGeom prst="rect">
            <a:avLst/>
          </a:prstGeom>
          <a:ln w="0">
            <a:noFill/>
          </a:ln>
        </p:spPr>
      </p:pic>
      <p:pic>
        <p:nvPicPr>
          <p:cNvPr id="195" name="Google Shape;93;p 2" descr="image.png"/>
          <p:cNvPicPr/>
          <p:nvPr/>
        </p:nvPicPr>
        <p:blipFill>
          <a:blip r:embed="rId3"/>
          <a:stretch/>
        </p:blipFill>
        <p:spPr>
          <a:xfrm>
            <a:off x="1119240" y="2205000"/>
            <a:ext cx="218880" cy="171000"/>
          </a:xfrm>
          <a:prstGeom prst="rect">
            <a:avLst/>
          </a:prstGeom>
          <a:ln w="0">
            <a:noFill/>
          </a:ln>
        </p:spPr>
      </p:pic>
      <p:pic>
        <p:nvPicPr>
          <p:cNvPr id="196" name="Google Shape;94;p 2" descr="image.png"/>
          <p:cNvPicPr/>
          <p:nvPr/>
        </p:nvPicPr>
        <p:blipFill>
          <a:blip r:embed="rId4"/>
          <a:stretch/>
        </p:blipFill>
        <p:spPr>
          <a:xfrm>
            <a:off x="6629400" y="2733840"/>
            <a:ext cx="171000" cy="171000"/>
          </a:xfrm>
          <a:prstGeom prst="rect">
            <a:avLst/>
          </a:prstGeom>
          <a:ln w="0">
            <a:noFill/>
          </a:ln>
        </p:spPr>
      </p:pic>
      <p:sp>
        <p:nvSpPr>
          <p:cNvPr id="197" name="Google Shape;95;p 2"/>
          <p:cNvSpPr/>
          <p:nvPr/>
        </p:nvSpPr>
        <p:spPr>
          <a:xfrm>
            <a:off x="762120" y="533520"/>
            <a:ext cx="11429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08. FRONTEIRAS DO SISTEMA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Google Shape;96;p 2"/>
          <p:cNvSpPr/>
          <p:nvPr/>
        </p:nvSpPr>
        <p:spPr>
          <a:xfrm>
            <a:off x="762120" y="781200"/>
            <a:ext cx="114296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24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Pressupostos, Dependências &amp; Exclusões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Google Shape;97;p 2"/>
          <p:cNvSpPr/>
          <p:nvPr/>
        </p:nvSpPr>
        <p:spPr>
          <a:xfrm>
            <a:off x="1533600" y="2171880"/>
            <a:ext cx="272484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5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Dependências Críticas</a:t>
            </a:r>
            <a:endParaRPr b="0" lang="pt-PT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Google Shape;98;p 2"/>
          <p:cNvSpPr/>
          <p:nvPr/>
        </p:nvSpPr>
        <p:spPr>
          <a:xfrm>
            <a:off x="1200240" y="2833560"/>
            <a:ext cx="565056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Adoção Hospitalar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Google Shape;99;p 2"/>
          <p:cNvSpPr/>
          <p:nvPr/>
        </p:nvSpPr>
        <p:spPr>
          <a:xfrm>
            <a:off x="1200240" y="3071880"/>
            <a:ext cx="440028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Cooperação das unidades de saúde para instalação dos pontos de sinalização de "Fim de Consulta".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Google Shape;100;p 2"/>
          <p:cNvSpPr/>
          <p:nvPr/>
        </p:nvSpPr>
        <p:spPr>
          <a:xfrm>
            <a:off x="1200240" y="3890880"/>
            <a:ext cx="565056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Partilha de Meios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Google Shape;101;p 2"/>
          <p:cNvSpPr/>
          <p:nvPr/>
        </p:nvSpPr>
        <p:spPr>
          <a:xfrm>
            <a:off x="1200240" y="4129200"/>
            <a:ext cx="440028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Protocolos com Municípios e IPSSs para cedência de viaturas adaptadas em subaproveitamento.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Google Shape;102;p 2"/>
          <p:cNvSpPr/>
          <p:nvPr/>
        </p:nvSpPr>
        <p:spPr>
          <a:xfrm>
            <a:off x="1200240" y="4948200"/>
            <a:ext cx="565056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Conectividade Móvel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Google Shape;103;p 2"/>
          <p:cNvSpPr/>
          <p:nvPr/>
        </p:nvSpPr>
        <p:spPr>
          <a:xfrm>
            <a:off x="1200240" y="5186520"/>
            <a:ext cx="440028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Rede de dados móveis ativa para comunicação contínua com a App do voluntário e telemática.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Google Shape;104;p 2"/>
          <p:cNvSpPr/>
          <p:nvPr/>
        </p:nvSpPr>
        <p:spPr>
          <a:xfrm>
            <a:off x="7020000" y="2700360"/>
            <a:ext cx="39376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5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Fora do Âmbito (Out-of-Scope)</a:t>
            </a:r>
            <a:endParaRPr b="0" lang="pt-PT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Google Shape;105;p 2"/>
          <p:cNvSpPr/>
          <p:nvPr/>
        </p:nvSpPr>
        <p:spPr>
          <a:xfrm>
            <a:off x="6686640" y="3362400"/>
            <a:ext cx="55051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e11d48"/>
                </a:solidFill>
                <a:latin typeface="Plus Jakarta Sans"/>
                <a:ea typeface="Plus Jakarta Sans"/>
              </a:rPr>
              <a:t>Emergência Médica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Google Shape;106;p 2"/>
          <p:cNvSpPr/>
          <p:nvPr/>
        </p:nvSpPr>
        <p:spPr>
          <a:xfrm>
            <a:off x="6686640" y="3600360"/>
            <a:ext cx="440028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Sem socorro pré-hospitalar ou situações urgentes (competência exclusiva do INEM / 112).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Google Shape;107;p 2"/>
          <p:cNvSpPr/>
          <p:nvPr/>
        </p:nvSpPr>
        <p:spPr>
          <a:xfrm>
            <a:off x="6686640" y="4419720"/>
            <a:ext cx="55051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e11d48"/>
                </a:solidFill>
                <a:latin typeface="Plus Jakarta Sans"/>
                <a:ea typeface="Plus Jakarta Sans"/>
              </a:rPr>
              <a:t>Manutenção Automóvel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Google Shape;108;p 2"/>
          <p:cNvSpPr/>
          <p:nvPr/>
        </p:nvSpPr>
        <p:spPr>
          <a:xfrm>
            <a:off x="6686640" y="4657680"/>
            <a:ext cx="440028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Sem gestão direta da manutenção mecânica, inspeções ou reparações dos veículos dos voluntários.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pt-PT</dc:language>
  <cp:lastModifiedBy/>
  <dcterms:modified xsi:type="dcterms:W3CDTF">2026-10-10T14:32:04Z</dcterms:modified>
  <cp:revision>3</cp:revision>
  <dc:subject/>
  <dc:title/>
</cp:coreProperties>
</file>