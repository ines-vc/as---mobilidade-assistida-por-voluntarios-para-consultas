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6B939-1AFB-353A-B4DB-76AF5A6787D7}" v="16" dt="2026-10-12T16:33:22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BEF19CC-17BD-4518-9866-B3C3A308134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93F567-1EBC-41A7-8511-325AFD7017A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2C7D1D0-84BA-4700-98CD-8506206559E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82B815-2B4B-4C0E-B612-B4630F6530C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664C4B0-2E0C-4757-A048-8E7987EF36C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3BBEF0C-A18C-482D-9BC1-BF36BB72871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2D8B595-3D78-44B4-BF03-DAFFE40E74A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C2F886D-B532-4D8F-9374-55D78E3FE60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AB2D57F-8250-4DD7-8D06-9F663884388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6C64F8D1-42AA-4C48-8D1F-67BB1A70D9F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84A8D019-1843-4CA1-BC67-EF365EDB3B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364D44FD-8504-4593-9892-6066163ADB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0BCC5C-1D28-4C50-A99A-460EC032B647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 lnSpcReduction="20000"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9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B52CD6-276C-4A04-8602-F8182FC9DB98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86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028D63-F4C3-49F8-A90E-18590B7A738E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98E843-CE2F-479E-B883-DD5DB6F2EC11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 lnSpcReduction="20000"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37A3AA-42FD-45D5-A4E7-7C1F332A240F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buNone/>
            </a:pPr>
            <a:r>
              <a:rPr lang="pt-PT" sz="40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4347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AFB32D-AE39-47F1-8388-155735965645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 lnSpcReduction="20000"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556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556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8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5398C6-BDBE-4757-8095-C8DAB596FFD9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 lnSpcReduction="20000"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624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1638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624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1638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7F0189-7FAD-4510-973D-82435EE950CD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 lnSpcReduction="20000"/>
          </a:bodyPr>
          <a:lstStyle/>
          <a:p>
            <a:pPr indent="0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161692-D25F-4B58-BD63-DD3954F613D0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49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128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9B18AB-78B5-4B31-9593-BB98C56954FD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8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4994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93B1F2-E83F-46B2-8FA3-E6BA73FF8598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928DB0-7F57-4AD9-80BE-9A407DE2D1CD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do título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1400" b="0" strike="noStrike" spc="-1">
                <a:solidFill>
                  <a:srgbClr val="000000"/>
                </a:solidFill>
                <a:latin typeface="Arial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84;p13"/>
          <p:cNvSpPr/>
          <p:nvPr/>
        </p:nvSpPr>
        <p:spPr>
          <a:xfrm>
            <a:off x="762120" y="4134600"/>
            <a:ext cx="3809520" cy="18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85;p13"/>
          <p:cNvSpPr/>
          <p:nvPr/>
        </p:nvSpPr>
        <p:spPr>
          <a:xfrm>
            <a:off x="762120" y="2123280"/>
            <a:ext cx="2777937" cy="405412"/>
          </a:xfrm>
          <a:prstGeom prst="roundRect">
            <a:avLst>
              <a:gd name="adj" fmla="val 50000"/>
            </a:avLst>
          </a:prstGeom>
          <a:solidFill>
            <a:srgbClr val="0F303D"/>
          </a:solidFill>
          <a:ln w="9525">
            <a:solidFill>
              <a:srgbClr val="1850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86;p13"/>
          <p:cNvSpPr/>
          <p:nvPr/>
        </p:nvSpPr>
        <p:spPr>
          <a:xfrm>
            <a:off x="762120" y="2656440"/>
            <a:ext cx="11251080" cy="70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pt-PT" sz="4200" b="1" strike="noStrike" spc="-1">
                <a:solidFill>
                  <a:srgbClr val="FFFFFF"/>
                </a:solidFill>
                <a:latin typeface="Plus Jakarta Sans"/>
                <a:ea typeface="Plus Jakarta Sans"/>
              </a:rPr>
              <a:t>MobiAssiste</a:t>
            </a:r>
            <a:endParaRPr lang="pt-PT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87;p13"/>
          <p:cNvSpPr/>
          <p:nvPr/>
        </p:nvSpPr>
        <p:spPr>
          <a:xfrm>
            <a:off x="762120" y="3433680"/>
            <a:ext cx="952452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pt-PT" sz="1800" b="0" strike="noStrike" spc="-1">
                <a:solidFill>
                  <a:srgbClr val="94A3B8"/>
                </a:solidFill>
                <a:latin typeface="Plus Jakarta Sans"/>
                <a:ea typeface="Plus Jakarta Sans"/>
              </a:rPr>
              <a:t>Plataforma Digital de Gestão Integrada de Mobilidade Assistida</a:t>
            </a:r>
            <a:endParaRPr lang="pt-PT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88;p13"/>
          <p:cNvSpPr/>
          <p:nvPr/>
        </p:nvSpPr>
        <p:spPr>
          <a:xfrm>
            <a:off x="762120" y="4534920"/>
            <a:ext cx="1142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Grupo:</a:t>
            </a:r>
            <a:r>
              <a:rPr lang="pt-PT" sz="120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 Dinis Carvalho - 125804; Hugo Lopes – 119012; Inês Cardoso - 125738; Guilherme Costa – 125636; </a:t>
            </a:r>
            <a:endParaRPr lang="pt-PT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89;p13"/>
          <p:cNvSpPr/>
          <p:nvPr/>
        </p:nvSpPr>
        <p:spPr>
          <a:xfrm>
            <a:off x="914400" y="2180160"/>
            <a:ext cx="26132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2DD4BF"/>
                </a:solidFill>
                <a:latin typeface="Plus Jakarta Sans"/>
                <a:ea typeface="Plus Jakarta Sans"/>
              </a:rPr>
              <a:t>ANÁLISE DE SISTEMAS • ITERAÇÃO 1</a:t>
            </a:r>
            <a:endParaRPr lang="pt-PT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94;p14"/>
          <p:cNvSpPr/>
          <p:nvPr/>
        </p:nvSpPr>
        <p:spPr>
          <a:xfrm>
            <a:off x="3780000" y="1980000"/>
            <a:ext cx="4663800" cy="19522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95;p14"/>
          <p:cNvSpPr/>
          <p:nvPr/>
        </p:nvSpPr>
        <p:spPr>
          <a:xfrm>
            <a:off x="3780000" y="1980000"/>
            <a:ext cx="37800" cy="1952280"/>
          </a:xfrm>
          <a:prstGeom prst="rect">
            <a:avLst/>
          </a:prstGeom>
          <a:solidFill>
            <a:srgbClr val="E11D4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96;p14"/>
          <p:cNvSpPr/>
          <p:nvPr/>
        </p:nvSpPr>
        <p:spPr>
          <a:xfrm>
            <a:off x="677520" y="4503960"/>
            <a:ext cx="5622480" cy="1076040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97;p14"/>
          <p:cNvSpPr/>
          <p:nvPr/>
        </p:nvSpPr>
        <p:spPr>
          <a:xfrm>
            <a:off x="6480000" y="4503960"/>
            <a:ext cx="5622480" cy="1076040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0;p14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01. CONTEXTO &amp; DESAFIOS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01;p14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A Ineficiência na Mobilidade Social e de Saúde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02;p14"/>
          <p:cNvSpPr/>
          <p:nvPr/>
        </p:nvSpPr>
        <p:spPr>
          <a:xfrm>
            <a:off x="3932280" y="2160000"/>
            <a:ext cx="5045040" cy="73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48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60 - 70%</a:t>
            </a:r>
            <a:endParaRPr lang="pt-PT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03;p14"/>
          <p:cNvSpPr/>
          <p:nvPr/>
        </p:nvSpPr>
        <p:spPr>
          <a:xfrm>
            <a:off x="3979800" y="3060000"/>
            <a:ext cx="502020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Tempo perdido em salas de espera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04;p14"/>
          <p:cNvSpPr/>
          <p:nvPr/>
        </p:nvSpPr>
        <p:spPr>
          <a:xfrm>
            <a:off x="3988800" y="3382200"/>
            <a:ext cx="411120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Voluntários e Utentes ficam retidos nos hospitais sem informação sobre o término das consultas médicas.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05;p14"/>
          <p:cNvSpPr/>
          <p:nvPr/>
        </p:nvSpPr>
        <p:spPr>
          <a:xfrm>
            <a:off x="885240" y="4680000"/>
            <a:ext cx="57747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Processos Manuais e Fragmentados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06;p14"/>
          <p:cNvSpPr/>
          <p:nvPr/>
        </p:nvSpPr>
        <p:spPr>
          <a:xfrm>
            <a:off x="880560" y="5056920"/>
            <a:ext cx="487944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475569"/>
                </a:solidFill>
                <a:latin typeface="Plus Jakarta Sans"/>
                <a:ea typeface="Plus Jakarta Sans"/>
              </a:rPr>
              <a:t>Agendamentos por folhas de cálculo e chamadas geram incompatibilidade de veículos.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07;p14"/>
          <p:cNvSpPr/>
          <p:nvPr/>
        </p:nvSpPr>
        <p:spPr>
          <a:xfrm>
            <a:off x="6660000" y="4654080"/>
            <a:ext cx="57178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Isolamento &amp; Faltas a Consultas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08;p14"/>
          <p:cNvSpPr/>
          <p:nvPr/>
        </p:nvSpPr>
        <p:spPr>
          <a:xfrm>
            <a:off x="6660000" y="5056920"/>
            <a:ext cx="482256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475569"/>
                </a:solidFill>
                <a:latin typeface="Plus Jakarta Sans"/>
                <a:ea typeface="Plus Jakarta Sans"/>
              </a:rPr>
              <a:t>Seniores e cidadãos vulneráveis perdem exames essenciais por falta de acompanhamento.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13;p15"/>
          <p:cNvSpPr/>
          <p:nvPr/>
        </p:nvSpPr>
        <p:spPr>
          <a:xfrm>
            <a:off x="762120" y="2510280"/>
            <a:ext cx="3403080" cy="183780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4;p15"/>
          <p:cNvSpPr/>
          <p:nvPr/>
        </p:nvSpPr>
        <p:spPr>
          <a:xfrm>
            <a:off x="8028000" y="2529000"/>
            <a:ext cx="3403080" cy="18000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15;p15"/>
          <p:cNvSpPr/>
          <p:nvPr/>
        </p:nvSpPr>
        <p:spPr>
          <a:xfrm>
            <a:off x="4394520" y="2510280"/>
            <a:ext cx="3403080" cy="1837800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22;p15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02. ECOSSISTEMA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23;p15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Promotor e Matriz de Stakeholders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24;p15"/>
          <p:cNvSpPr/>
          <p:nvPr/>
        </p:nvSpPr>
        <p:spPr>
          <a:xfrm>
            <a:off x="928440" y="2880000"/>
            <a:ext cx="37418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5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IPSS / Rede Municipal</a:t>
            </a:r>
            <a:endParaRPr lang="pt-PT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25;p15"/>
          <p:cNvSpPr/>
          <p:nvPr/>
        </p:nvSpPr>
        <p:spPr>
          <a:xfrm>
            <a:off x="900000" y="3420000"/>
            <a:ext cx="294588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Coordenação operacional, credenciação de voluntários e seguros de viagem.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26;p15"/>
          <p:cNvSpPr/>
          <p:nvPr/>
        </p:nvSpPr>
        <p:spPr>
          <a:xfrm>
            <a:off x="4670280" y="2896560"/>
            <a:ext cx="37418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5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Lares e Clientes de IPSS’s</a:t>
            </a:r>
            <a:endParaRPr lang="pt-PT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27;p15"/>
          <p:cNvSpPr/>
          <p:nvPr/>
        </p:nvSpPr>
        <p:spPr>
          <a:xfrm>
            <a:off x="4614120" y="3436920"/>
            <a:ext cx="294588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Gestão centralizada de pedidos para grupos de utentes em residências seniores.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28;p15"/>
          <p:cNvSpPr/>
          <p:nvPr/>
        </p:nvSpPr>
        <p:spPr>
          <a:xfrm>
            <a:off x="8336880" y="2896560"/>
            <a:ext cx="37418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5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Unidades Hospitalares</a:t>
            </a:r>
            <a:endParaRPr lang="pt-PT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29;p15"/>
          <p:cNvSpPr/>
          <p:nvPr/>
        </p:nvSpPr>
        <p:spPr>
          <a:xfrm>
            <a:off x="8280000" y="3436920"/>
            <a:ext cx="294588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Sinalização de término de consulta médica via kiosk ou botão virtual.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34;p16"/>
          <p:cNvSpPr/>
          <p:nvPr/>
        </p:nvSpPr>
        <p:spPr>
          <a:xfrm>
            <a:off x="762120" y="2624040"/>
            <a:ext cx="304560" cy="3045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35;p16"/>
          <p:cNvSpPr/>
          <p:nvPr/>
        </p:nvSpPr>
        <p:spPr>
          <a:xfrm>
            <a:off x="762120" y="3252960"/>
            <a:ext cx="304560" cy="3045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6;p16"/>
          <p:cNvSpPr/>
          <p:nvPr/>
        </p:nvSpPr>
        <p:spPr>
          <a:xfrm>
            <a:off x="762120" y="4062240"/>
            <a:ext cx="304560" cy="3045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38;p16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03. SOLUÇÃO PROPOSTA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39;p16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A Plataforma Digital MobiAssiste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40;p16"/>
          <p:cNvSpPr/>
          <p:nvPr/>
        </p:nvSpPr>
        <p:spPr>
          <a:xfrm>
            <a:off x="619200" y="2684520"/>
            <a:ext cx="5900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FFFFFF"/>
                </a:solidFill>
                <a:latin typeface="Plus Jakarta Sans"/>
                <a:ea typeface="Plus Jakarta Sans"/>
              </a:rPr>
              <a:t>1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41;p16"/>
          <p:cNvSpPr/>
          <p:nvPr/>
        </p:nvSpPr>
        <p:spPr>
          <a:xfrm>
            <a:off x="619200" y="3313440"/>
            <a:ext cx="5900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FFFFFF"/>
                </a:solidFill>
                <a:latin typeface="Plus Jakarta Sans"/>
                <a:ea typeface="Plus Jakarta Sans"/>
              </a:rPr>
              <a:t>2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42;p16"/>
          <p:cNvSpPr/>
          <p:nvPr/>
        </p:nvSpPr>
        <p:spPr>
          <a:xfrm>
            <a:off x="619200" y="4122720"/>
            <a:ext cx="5900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FFFFFF"/>
                </a:solidFill>
                <a:latin typeface="Plus Jakarta Sans"/>
                <a:ea typeface="Plus Jakarta Sans"/>
              </a:rPr>
              <a:t>3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3;p16"/>
          <p:cNvSpPr/>
          <p:nvPr/>
        </p:nvSpPr>
        <p:spPr>
          <a:xfrm>
            <a:off x="1219320" y="2624040"/>
            <a:ext cx="6100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Triagem &amp; Matching Algorítmico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44;p16"/>
          <p:cNvSpPr/>
          <p:nvPr/>
        </p:nvSpPr>
        <p:spPr>
          <a:xfrm>
            <a:off x="1219320" y="2881440"/>
            <a:ext cx="5810040" cy="17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Cruzamento automático entre perfil de mobilidade e tipo de veículo.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45;p16"/>
          <p:cNvSpPr/>
          <p:nvPr/>
        </p:nvSpPr>
        <p:spPr>
          <a:xfrm>
            <a:off x="1219320" y="3252960"/>
            <a:ext cx="6100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Integração IoT Hospitalar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46;p16"/>
          <p:cNvSpPr/>
          <p:nvPr/>
        </p:nvSpPr>
        <p:spPr>
          <a:xfrm>
            <a:off x="1219320" y="3510000"/>
            <a:ext cx="474300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Sinalização em tempo real do término de consulta para eliminar esperas.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47;p16"/>
          <p:cNvSpPr/>
          <p:nvPr/>
        </p:nvSpPr>
        <p:spPr>
          <a:xfrm>
            <a:off x="1219320" y="4062240"/>
            <a:ext cx="59752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Módulo de Banco de Tempo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48;p16"/>
          <p:cNvSpPr/>
          <p:nvPr/>
        </p:nvSpPr>
        <p:spPr>
          <a:xfrm>
            <a:off x="1219320" y="4319640"/>
            <a:ext cx="5690880" cy="17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13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Reconhecimento e conversão de horas dedicadas por voluntários.</a:t>
            </a:r>
            <a:endParaRPr lang="pt-PT" sz="113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53;p17"/>
          <p:cNvSpPr/>
          <p:nvPr/>
        </p:nvSpPr>
        <p:spPr>
          <a:xfrm>
            <a:off x="762120" y="2952720"/>
            <a:ext cx="3403080" cy="188568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54;p17"/>
          <p:cNvSpPr/>
          <p:nvPr/>
        </p:nvSpPr>
        <p:spPr>
          <a:xfrm>
            <a:off x="4394160" y="2952720"/>
            <a:ext cx="3403080" cy="188568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55;p17"/>
          <p:cNvSpPr/>
          <p:nvPr/>
        </p:nvSpPr>
        <p:spPr>
          <a:xfrm>
            <a:off x="8026200" y="2952720"/>
            <a:ext cx="3403080" cy="1885680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56;p17"/>
          <p:cNvSpPr/>
          <p:nvPr/>
        </p:nvSpPr>
        <p:spPr>
          <a:xfrm>
            <a:off x="1000080" y="3200400"/>
            <a:ext cx="1161838" cy="230085"/>
          </a:xfrm>
          <a:prstGeom prst="roundRect">
            <a:avLst>
              <a:gd name="adj" fmla="val 50000"/>
            </a:avLst>
          </a:prstGeom>
          <a:solidFill>
            <a:srgbClr val="E7F4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57;p17"/>
          <p:cNvSpPr/>
          <p:nvPr/>
        </p:nvSpPr>
        <p:spPr>
          <a:xfrm>
            <a:off x="4620914" y="3099548"/>
            <a:ext cx="1928837" cy="319732"/>
          </a:xfrm>
          <a:prstGeom prst="roundRect">
            <a:avLst>
              <a:gd name="adj" fmla="val 50000"/>
            </a:avLst>
          </a:prstGeom>
          <a:solidFill>
            <a:srgbClr val="FCE8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58;p17"/>
          <p:cNvSpPr/>
          <p:nvPr/>
        </p:nvSpPr>
        <p:spPr>
          <a:xfrm>
            <a:off x="8286931" y="3099548"/>
            <a:ext cx="1286531" cy="319732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59;p17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04. MAPEAMENTO DE NECESSIDADES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60;p17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Personas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61;p17"/>
          <p:cNvSpPr/>
          <p:nvPr/>
        </p:nvSpPr>
        <p:spPr>
          <a:xfrm>
            <a:off x="1095480" y="3272178"/>
            <a:ext cx="1122469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CEGUEIRA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62;p17"/>
          <p:cNvSpPr/>
          <p:nvPr/>
        </p:nvSpPr>
        <p:spPr>
          <a:xfrm>
            <a:off x="1000080" y="3505320"/>
            <a:ext cx="3841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Benedita Sousa, 67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63;p17"/>
          <p:cNvSpPr/>
          <p:nvPr/>
        </p:nvSpPr>
        <p:spPr>
          <a:xfrm>
            <a:off x="1000080" y="3762360"/>
            <a:ext cx="36586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Acompanhamento Pedestre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64;p17"/>
          <p:cNvSpPr/>
          <p:nvPr/>
        </p:nvSpPr>
        <p:spPr>
          <a:xfrm>
            <a:off x="1000080" y="4086360"/>
            <a:ext cx="3022200" cy="4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334155"/>
                </a:solidFill>
                <a:latin typeface="Plus Jakarta Sans"/>
                <a:ea typeface="Plus Jakarta Sans"/>
              </a:rPr>
              <a:t>Acesso via Canal Telefónico Assistido. Requer voluntário para apoio no embarque e dentro do hospital.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65;p17"/>
          <p:cNvSpPr/>
          <p:nvPr/>
        </p:nvSpPr>
        <p:spPr>
          <a:xfrm>
            <a:off x="4671491" y="3204943"/>
            <a:ext cx="2102378" cy="1384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CADEIRA DE RODAS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66;p17"/>
          <p:cNvSpPr/>
          <p:nvPr/>
        </p:nvSpPr>
        <p:spPr>
          <a:xfrm>
            <a:off x="4632120" y="3505320"/>
            <a:ext cx="3841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Manuel Silva, 74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67;p17"/>
          <p:cNvSpPr/>
          <p:nvPr/>
        </p:nvSpPr>
        <p:spPr>
          <a:xfrm>
            <a:off x="4632120" y="3762360"/>
            <a:ext cx="36586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Mobilidade Severa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68;p17"/>
          <p:cNvSpPr/>
          <p:nvPr/>
        </p:nvSpPr>
        <p:spPr>
          <a:xfrm>
            <a:off x="4632120" y="4086360"/>
            <a:ext cx="3022200" cy="4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334155"/>
                </a:solidFill>
                <a:latin typeface="Plus Jakarta Sans"/>
                <a:ea typeface="Plus Jakarta Sans"/>
              </a:rPr>
              <a:t>Agendamento por Técnico de Lar. Alocação automática de Viatura Adaptada com rampa/elevador.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69;p17"/>
          <p:cNvSpPr/>
          <p:nvPr/>
        </p:nvSpPr>
        <p:spPr>
          <a:xfrm>
            <a:off x="8359560" y="3204943"/>
            <a:ext cx="1415607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VOLUNTÁRIO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70;p17"/>
          <p:cNvSpPr/>
          <p:nvPr/>
        </p:nvSpPr>
        <p:spPr>
          <a:xfrm>
            <a:off x="8264520" y="3505320"/>
            <a:ext cx="3841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Guilherme Costa, 21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71;p17"/>
          <p:cNvSpPr/>
          <p:nvPr/>
        </p:nvSpPr>
        <p:spPr>
          <a:xfrm>
            <a:off x="8264520" y="3762360"/>
            <a:ext cx="36586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Carro Próprio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72;p17"/>
          <p:cNvSpPr/>
          <p:nvPr/>
        </p:nvSpPr>
        <p:spPr>
          <a:xfrm>
            <a:off x="8264520" y="4086360"/>
            <a:ext cx="3022200" cy="4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334155"/>
                </a:solidFill>
                <a:latin typeface="Plus Jakarta Sans"/>
                <a:ea typeface="Plus Jakarta Sans"/>
              </a:rPr>
              <a:t>Usa App Móvel para aceitar missões flexíveis e acumular créditos no Banco de Tempo comunitário.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77;p18"/>
          <p:cNvSpPr/>
          <p:nvPr/>
        </p:nvSpPr>
        <p:spPr>
          <a:xfrm>
            <a:off x="762120" y="2152800"/>
            <a:ext cx="5652360" cy="8377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78;p18"/>
          <p:cNvSpPr/>
          <p:nvPr/>
        </p:nvSpPr>
        <p:spPr>
          <a:xfrm>
            <a:off x="762120" y="3143160"/>
            <a:ext cx="5652360" cy="8377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179;p18"/>
          <p:cNvSpPr/>
          <p:nvPr/>
        </p:nvSpPr>
        <p:spPr>
          <a:xfrm>
            <a:off x="762120" y="4133880"/>
            <a:ext cx="5652360" cy="83772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181;p18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05. GESTÃO DE RECURSOS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82;p18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Hierarquia de Recurso à Frota Híbrida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183;p18"/>
          <p:cNvSpPr/>
          <p:nvPr/>
        </p:nvSpPr>
        <p:spPr>
          <a:xfrm>
            <a:off x="961920" y="2352600"/>
            <a:ext cx="239040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Nível 1 • Prioritário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84;p18"/>
          <p:cNvSpPr/>
          <p:nvPr/>
        </p:nvSpPr>
        <p:spPr>
          <a:xfrm>
            <a:off x="5061960" y="2486160"/>
            <a:ext cx="14403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Mobilidade Ligeira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85;p18"/>
          <p:cNvSpPr/>
          <p:nvPr/>
        </p:nvSpPr>
        <p:spPr>
          <a:xfrm>
            <a:off x="961920" y="3343320"/>
            <a:ext cx="227628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D97706"/>
                </a:solidFill>
                <a:latin typeface="Plus Jakarta Sans"/>
                <a:ea typeface="Plus Jakarta Sans"/>
              </a:rPr>
              <a:t>Nível 2 • Adaptado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86;p18"/>
          <p:cNvSpPr/>
          <p:nvPr/>
        </p:nvSpPr>
        <p:spPr>
          <a:xfrm>
            <a:off x="5100120" y="3476520"/>
            <a:ext cx="13996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Cadeira de Rodas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187;p18"/>
          <p:cNvSpPr/>
          <p:nvPr/>
        </p:nvSpPr>
        <p:spPr>
          <a:xfrm>
            <a:off x="961920" y="4334040"/>
            <a:ext cx="295236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Nível 3 • Contingência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188;p18"/>
          <p:cNvSpPr/>
          <p:nvPr/>
        </p:nvSpPr>
        <p:spPr>
          <a:xfrm>
            <a:off x="4928760" y="4467240"/>
            <a:ext cx="1607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Falha de Rede Social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89;p18"/>
          <p:cNvSpPr/>
          <p:nvPr/>
        </p:nvSpPr>
        <p:spPr>
          <a:xfrm>
            <a:off x="961920" y="2571840"/>
            <a:ext cx="30124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Voluntário em Carro Ligeiro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90;p18"/>
          <p:cNvSpPr/>
          <p:nvPr/>
        </p:nvSpPr>
        <p:spPr>
          <a:xfrm>
            <a:off x="961920" y="3562200"/>
            <a:ext cx="28623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Viatura Adaptada Parceiro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91;p18"/>
          <p:cNvSpPr/>
          <p:nvPr/>
        </p:nvSpPr>
        <p:spPr>
          <a:xfrm>
            <a:off x="961920" y="4552920"/>
            <a:ext cx="37501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Operador Profissional (Táxi/TVDE)</a:t>
            </a:r>
            <a:endParaRPr lang="pt-PT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64280" y="1440000"/>
            <a:ext cx="5895720" cy="68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35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Para gerir os meios de forma eficiente, o MobiAssiste utiliza um modelo de Frota Híbrida dividido em 3 níveis:</a:t>
            </a:r>
            <a:endParaRPr lang="pt-PT" sz="135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96;p19"/>
          <p:cNvSpPr/>
          <p:nvPr/>
        </p:nvSpPr>
        <p:spPr>
          <a:xfrm>
            <a:off x="762120" y="3240000"/>
            <a:ext cx="2366640" cy="136980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381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198;p19"/>
          <p:cNvSpPr/>
          <p:nvPr/>
        </p:nvSpPr>
        <p:spPr>
          <a:xfrm>
            <a:off x="3529080" y="3240000"/>
            <a:ext cx="2366640" cy="136980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381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00;p19"/>
          <p:cNvSpPr/>
          <p:nvPr/>
        </p:nvSpPr>
        <p:spPr>
          <a:xfrm>
            <a:off x="6305400" y="3240000"/>
            <a:ext cx="2343960" cy="13701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E11D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02;p19"/>
          <p:cNvSpPr/>
          <p:nvPr/>
        </p:nvSpPr>
        <p:spPr>
          <a:xfrm>
            <a:off x="9063000" y="3240000"/>
            <a:ext cx="2366640" cy="136980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381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Google Shape;204;p19" descr="image.png"/>
          <p:cNvPicPr/>
          <p:nvPr/>
        </p:nvPicPr>
        <p:blipFill>
          <a:blip r:embed="rId2"/>
          <a:stretch/>
        </p:blipFill>
        <p:spPr>
          <a:xfrm>
            <a:off x="3281400" y="385776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56" name="Google Shape;205;p19" descr="image.png"/>
          <p:cNvPicPr/>
          <p:nvPr/>
        </p:nvPicPr>
        <p:blipFill>
          <a:blip r:embed="rId3"/>
          <a:stretch/>
        </p:blipFill>
        <p:spPr>
          <a:xfrm>
            <a:off x="6048360" y="3857760"/>
            <a:ext cx="95040" cy="151920"/>
          </a:xfrm>
          <a:prstGeom prst="rect">
            <a:avLst/>
          </a:prstGeom>
          <a:ln w="0">
            <a:noFill/>
          </a:ln>
        </p:spPr>
      </p:pic>
      <p:pic>
        <p:nvPicPr>
          <p:cNvPr id="157" name="Google Shape;206;p19" descr="image.png"/>
          <p:cNvPicPr/>
          <p:nvPr/>
        </p:nvPicPr>
        <p:blipFill>
          <a:blip r:embed="rId2"/>
          <a:stretch/>
        </p:blipFill>
        <p:spPr>
          <a:xfrm>
            <a:off x="8815320" y="3857760"/>
            <a:ext cx="95040" cy="151920"/>
          </a:xfrm>
          <a:prstGeom prst="rect">
            <a:avLst/>
          </a:prstGeom>
          <a:ln w="0">
            <a:noFill/>
          </a:ln>
        </p:spPr>
      </p:pic>
      <p:sp>
        <p:nvSpPr>
          <p:cNvPr id="158" name="Google Shape;207;p19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06. PROTÓTIPO &amp; PROCESSO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08;p19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Fluxo Operacional de uma Viagem (To-Be)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09;p19"/>
          <p:cNvSpPr/>
          <p:nvPr/>
        </p:nvSpPr>
        <p:spPr>
          <a:xfrm>
            <a:off x="990720" y="3486240"/>
            <a:ext cx="200448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PASSO 1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10;p19"/>
          <p:cNvSpPr/>
          <p:nvPr/>
        </p:nvSpPr>
        <p:spPr>
          <a:xfrm>
            <a:off x="3757680" y="3486240"/>
            <a:ext cx="200448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2A6099"/>
                </a:solidFill>
                <a:latin typeface="Plus Jakarta Sans"/>
                <a:ea typeface="Plus Jakarta Sans"/>
              </a:rPr>
              <a:t>PASSO 2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11;p19"/>
          <p:cNvSpPr/>
          <p:nvPr/>
        </p:nvSpPr>
        <p:spPr>
          <a:xfrm>
            <a:off x="6524640" y="3400560"/>
            <a:ext cx="200448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PASSO 3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12;p19"/>
          <p:cNvSpPr/>
          <p:nvPr/>
        </p:nvSpPr>
        <p:spPr>
          <a:xfrm>
            <a:off x="9291600" y="3486240"/>
            <a:ext cx="200448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900" b="1" strike="noStrike" spc="-1">
                <a:solidFill>
                  <a:srgbClr val="D97706"/>
                </a:solidFill>
                <a:latin typeface="Plus Jakarta Sans"/>
                <a:ea typeface="Plus Jakarta Sans"/>
              </a:rPr>
              <a:t>PASSO 4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13;p19"/>
          <p:cNvSpPr/>
          <p:nvPr/>
        </p:nvSpPr>
        <p:spPr>
          <a:xfrm>
            <a:off x="990720" y="3800520"/>
            <a:ext cx="25063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Agendamento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14;p19"/>
          <p:cNvSpPr/>
          <p:nvPr/>
        </p:nvSpPr>
        <p:spPr>
          <a:xfrm>
            <a:off x="990720" y="4038480"/>
            <a:ext cx="2004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Pedido via telefone ou Portal Web com requisitos médicos.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15;p19"/>
          <p:cNvSpPr/>
          <p:nvPr/>
        </p:nvSpPr>
        <p:spPr>
          <a:xfrm>
            <a:off x="3757680" y="3800520"/>
            <a:ext cx="25063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Matching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16;p19"/>
          <p:cNvSpPr/>
          <p:nvPr/>
        </p:nvSpPr>
        <p:spPr>
          <a:xfrm>
            <a:off x="3757680" y="4038480"/>
            <a:ext cx="2004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Seleção automática do veículo e voluntário adequado.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17;p19"/>
          <p:cNvSpPr/>
          <p:nvPr/>
        </p:nvSpPr>
        <p:spPr>
          <a:xfrm>
            <a:off x="6524640" y="3714840"/>
            <a:ext cx="25063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Alerta Hospital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18;p19"/>
          <p:cNvSpPr/>
          <p:nvPr/>
        </p:nvSpPr>
        <p:spPr>
          <a:xfrm>
            <a:off x="6524640" y="3952800"/>
            <a:ext cx="2004480" cy="47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Sinalização de "Fim de Consulta" aciona rota de regresso.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19;p19"/>
          <p:cNvSpPr/>
          <p:nvPr/>
        </p:nvSpPr>
        <p:spPr>
          <a:xfrm>
            <a:off x="9291600" y="3800520"/>
            <a:ext cx="25063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Banco de Tempo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20;p19"/>
          <p:cNvSpPr/>
          <p:nvPr/>
        </p:nvSpPr>
        <p:spPr>
          <a:xfrm>
            <a:off x="9291600" y="4038480"/>
            <a:ext cx="2004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Crédito automático de horas na conta do voluntário.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225;p20"/>
          <p:cNvSpPr/>
          <p:nvPr/>
        </p:nvSpPr>
        <p:spPr>
          <a:xfrm>
            <a:off x="762120" y="2924280"/>
            <a:ext cx="5257440" cy="980640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26;p20"/>
          <p:cNvSpPr/>
          <p:nvPr/>
        </p:nvSpPr>
        <p:spPr>
          <a:xfrm>
            <a:off x="6172200" y="2924280"/>
            <a:ext cx="5257440" cy="980640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27;p20"/>
          <p:cNvSpPr/>
          <p:nvPr/>
        </p:nvSpPr>
        <p:spPr>
          <a:xfrm>
            <a:off x="762120" y="4057560"/>
            <a:ext cx="5257440" cy="809280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28;p20"/>
          <p:cNvSpPr/>
          <p:nvPr/>
        </p:nvSpPr>
        <p:spPr>
          <a:xfrm>
            <a:off x="6172200" y="4057560"/>
            <a:ext cx="5257440" cy="809280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29;p20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07. ROADMAP TÉCNICO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30;p20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Estrutura de Épicos de Desenvolvimento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31;p20"/>
          <p:cNvSpPr/>
          <p:nvPr/>
        </p:nvSpPr>
        <p:spPr>
          <a:xfrm>
            <a:off x="961920" y="3124080"/>
            <a:ext cx="63756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ÉPICO #1 • Perfis &amp; Triagem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32;p20"/>
          <p:cNvSpPr/>
          <p:nvPr/>
        </p:nvSpPr>
        <p:spPr>
          <a:xfrm>
            <a:off x="961920" y="3362400"/>
            <a:ext cx="495252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Parametrização de condicionantes de mobilidade e gestão de canais assistidos.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33;p20"/>
          <p:cNvSpPr/>
          <p:nvPr/>
        </p:nvSpPr>
        <p:spPr>
          <a:xfrm>
            <a:off x="6372360" y="3124080"/>
            <a:ext cx="58194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ÉPICO #2 • Engine de Matching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34;p20"/>
          <p:cNvSpPr/>
          <p:nvPr/>
        </p:nvSpPr>
        <p:spPr>
          <a:xfrm>
            <a:off x="6372360" y="3362400"/>
            <a:ext cx="581940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Motor de regras para alocação de frota híbrida e operadores de contingência.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35;p20"/>
          <p:cNvSpPr/>
          <p:nvPr/>
        </p:nvSpPr>
        <p:spPr>
          <a:xfrm>
            <a:off x="961920" y="4257720"/>
            <a:ext cx="63756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ÉPICO #3 • App &amp; Banco de Tempo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36;p20"/>
          <p:cNvSpPr/>
          <p:nvPr/>
        </p:nvSpPr>
        <p:spPr>
          <a:xfrm>
            <a:off x="961920" y="4495680"/>
            <a:ext cx="60717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Aplicação móvel do condutor voluntário e contabilidade de horas prestadas.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37;p20"/>
          <p:cNvSpPr/>
          <p:nvPr/>
        </p:nvSpPr>
        <p:spPr>
          <a:xfrm>
            <a:off x="6372360" y="4257720"/>
            <a:ext cx="58194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ÉPICO #4 • IoT &amp; Telemática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238;p20"/>
          <p:cNvSpPr/>
          <p:nvPr/>
        </p:nvSpPr>
        <p:spPr>
          <a:xfrm>
            <a:off x="6372360" y="4495680"/>
            <a:ext cx="581940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Módulo hospitalar de sinalização de "Fim de Consulta" e rastreamento GPS.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84;p 1"/>
          <p:cNvSpPr/>
          <p:nvPr/>
        </p:nvSpPr>
        <p:spPr>
          <a:xfrm>
            <a:off x="762120" y="1824120"/>
            <a:ext cx="5181120" cy="4142880"/>
          </a:xfrm>
          <a:prstGeom prst="roundRect">
            <a:avLst>
              <a:gd name="adj" fmla="val 36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85;p 2"/>
          <p:cNvSpPr/>
          <p:nvPr/>
        </p:nvSpPr>
        <p:spPr>
          <a:xfrm>
            <a:off x="6248520" y="2352600"/>
            <a:ext cx="5181120" cy="308592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86;p 2"/>
          <p:cNvSpPr/>
          <p:nvPr/>
        </p:nvSpPr>
        <p:spPr>
          <a:xfrm>
            <a:off x="1038240" y="2671920"/>
            <a:ext cx="4628880" cy="904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87;p 2"/>
          <p:cNvSpPr/>
          <p:nvPr/>
        </p:nvSpPr>
        <p:spPr>
          <a:xfrm>
            <a:off x="1038240" y="3728880"/>
            <a:ext cx="4628880" cy="904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88;p 2"/>
          <p:cNvSpPr/>
          <p:nvPr/>
        </p:nvSpPr>
        <p:spPr>
          <a:xfrm>
            <a:off x="1038240" y="4786200"/>
            <a:ext cx="4628880" cy="904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89;p 2"/>
          <p:cNvSpPr/>
          <p:nvPr/>
        </p:nvSpPr>
        <p:spPr>
          <a:xfrm>
            <a:off x="6524640" y="3200400"/>
            <a:ext cx="4628880" cy="904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90;p 2"/>
          <p:cNvSpPr/>
          <p:nvPr/>
        </p:nvSpPr>
        <p:spPr>
          <a:xfrm>
            <a:off x="6524640" y="4257720"/>
            <a:ext cx="4628880" cy="904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Google Shape;91;p 2" descr="image.png"/>
          <p:cNvPicPr/>
          <p:nvPr/>
        </p:nvPicPr>
        <p:blipFill>
          <a:blip r:embed="rId2"/>
          <a:stretch/>
        </p:blipFill>
        <p:spPr>
          <a:xfrm>
            <a:off x="1038240" y="210024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194" name="Google Shape;92;p 2" descr="image.png"/>
          <p:cNvPicPr/>
          <p:nvPr/>
        </p:nvPicPr>
        <p:blipFill>
          <a:blip r:embed="rId3"/>
          <a:stretch/>
        </p:blipFill>
        <p:spPr>
          <a:xfrm>
            <a:off x="6524640" y="262908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195" name="Google Shape;93;p 2" descr="image.png"/>
          <p:cNvPicPr/>
          <p:nvPr/>
        </p:nvPicPr>
        <p:blipFill>
          <a:blip r:embed="rId4"/>
          <a:stretch/>
        </p:blipFill>
        <p:spPr>
          <a:xfrm>
            <a:off x="1119240" y="2205000"/>
            <a:ext cx="218880" cy="171000"/>
          </a:xfrm>
          <a:prstGeom prst="rect">
            <a:avLst/>
          </a:prstGeom>
          <a:ln w="0">
            <a:noFill/>
          </a:ln>
        </p:spPr>
      </p:pic>
      <p:pic>
        <p:nvPicPr>
          <p:cNvPr id="196" name="Google Shape;94;p 2" descr="image.png"/>
          <p:cNvPicPr/>
          <p:nvPr/>
        </p:nvPicPr>
        <p:blipFill>
          <a:blip r:embed="rId5"/>
          <a:stretch/>
        </p:blipFill>
        <p:spPr>
          <a:xfrm>
            <a:off x="6629400" y="27338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97" name="Google Shape;95;p 2"/>
          <p:cNvSpPr/>
          <p:nvPr/>
        </p:nvSpPr>
        <p:spPr>
          <a:xfrm>
            <a:off x="762120" y="533520"/>
            <a:ext cx="114296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08. FRONTEIRAS DO SISTEMA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96;p 2"/>
          <p:cNvSpPr/>
          <p:nvPr/>
        </p:nvSpPr>
        <p:spPr>
          <a:xfrm>
            <a:off x="762120" y="781200"/>
            <a:ext cx="1142964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4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Pressupostos, Dependências &amp; Exclusões</a:t>
            </a:r>
            <a:endParaRPr lang="pt-PT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97;p 2"/>
          <p:cNvSpPr/>
          <p:nvPr/>
        </p:nvSpPr>
        <p:spPr>
          <a:xfrm>
            <a:off x="1533600" y="2171880"/>
            <a:ext cx="27248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5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Dependências Críticas</a:t>
            </a:r>
            <a:endParaRPr lang="pt-PT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98;p 2"/>
          <p:cNvSpPr/>
          <p:nvPr/>
        </p:nvSpPr>
        <p:spPr>
          <a:xfrm>
            <a:off x="1200240" y="2833560"/>
            <a:ext cx="565056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Adoção Hospitalar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99;p 2"/>
          <p:cNvSpPr/>
          <p:nvPr/>
        </p:nvSpPr>
        <p:spPr>
          <a:xfrm>
            <a:off x="1200240" y="3071880"/>
            <a:ext cx="44002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Cooperação das unidades de saúde para instalação dos pontos de sinalização de "Fim de Consulta".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100;p 2"/>
          <p:cNvSpPr/>
          <p:nvPr/>
        </p:nvSpPr>
        <p:spPr>
          <a:xfrm>
            <a:off x="1200240" y="3890880"/>
            <a:ext cx="565056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Partilha de Meios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101;p 2"/>
          <p:cNvSpPr/>
          <p:nvPr/>
        </p:nvSpPr>
        <p:spPr>
          <a:xfrm>
            <a:off x="1200240" y="4129200"/>
            <a:ext cx="44002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Protocolos com Municípios e IPSSs para cedência de viaturas adaptadas em subaproveitamento.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102;p 2"/>
          <p:cNvSpPr/>
          <p:nvPr/>
        </p:nvSpPr>
        <p:spPr>
          <a:xfrm>
            <a:off x="1200240" y="4948200"/>
            <a:ext cx="565056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0D9488"/>
                </a:solidFill>
                <a:latin typeface="Plus Jakarta Sans"/>
                <a:ea typeface="Plus Jakarta Sans"/>
              </a:rPr>
              <a:t>Conectividade Móvel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103;p 2"/>
          <p:cNvSpPr/>
          <p:nvPr/>
        </p:nvSpPr>
        <p:spPr>
          <a:xfrm>
            <a:off x="1200240" y="5186520"/>
            <a:ext cx="44002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Rede de dados móveis ativa para comunicação contínua com a App do voluntário e telemática.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104;p 2"/>
          <p:cNvSpPr/>
          <p:nvPr/>
        </p:nvSpPr>
        <p:spPr>
          <a:xfrm>
            <a:off x="7020000" y="2700360"/>
            <a:ext cx="393768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500" b="1" strike="noStrike" spc="-1">
                <a:solidFill>
                  <a:srgbClr val="0F172A"/>
                </a:solidFill>
                <a:latin typeface="Plus Jakarta Sans"/>
                <a:ea typeface="Plus Jakarta Sans"/>
              </a:rPr>
              <a:t>Fora do Âmbito (Out-of-Scope)</a:t>
            </a:r>
            <a:endParaRPr lang="pt-PT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105;p 2"/>
          <p:cNvSpPr/>
          <p:nvPr/>
        </p:nvSpPr>
        <p:spPr>
          <a:xfrm>
            <a:off x="6686640" y="3362400"/>
            <a:ext cx="55051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Emergência Médica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106;p 2"/>
          <p:cNvSpPr/>
          <p:nvPr/>
        </p:nvSpPr>
        <p:spPr>
          <a:xfrm>
            <a:off x="6686640" y="3600360"/>
            <a:ext cx="44002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Sem socorro pré-hospitalar ou situações urgentes (competência exclusiva do INEM / 112).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Google Shape;107;p 2"/>
          <p:cNvSpPr/>
          <p:nvPr/>
        </p:nvSpPr>
        <p:spPr>
          <a:xfrm>
            <a:off x="6686640" y="4419720"/>
            <a:ext cx="55051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200" b="1" strike="noStrike" spc="-1">
                <a:solidFill>
                  <a:srgbClr val="E11D48"/>
                </a:solidFill>
                <a:latin typeface="Plus Jakarta Sans"/>
                <a:ea typeface="Plus Jakarta Sans"/>
              </a:rPr>
              <a:t>Manutenção Automóvel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108;p 2"/>
          <p:cNvSpPr/>
          <p:nvPr/>
        </p:nvSpPr>
        <p:spPr>
          <a:xfrm>
            <a:off x="6686640" y="4657680"/>
            <a:ext cx="44002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1050" b="0" strike="noStrike" spc="-1">
                <a:solidFill>
                  <a:srgbClr val="64748B"/>
                </a:solidFill>
                <a:latin typeface="Plus Jakarta Sans"/>
                <a:ea typeface="Plus Jakarta Sans"/>
              </a:rPr>
              <a:t>Sem gestão direta da manutenção mecânica, inspeções ou reparações dos veículos dos voluntários.</a:t>
            </a:r>
            <a:endParaRPr lang="pt-PT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18</cp:revision>
  <dcterms:modified xsi:type="dcterms:W3CDTF">2026-10-12T16:33:32Z</dcterms:modified>
  <dc:language>pt-PT</dc:language>
</cp:coreProperties>
</file>